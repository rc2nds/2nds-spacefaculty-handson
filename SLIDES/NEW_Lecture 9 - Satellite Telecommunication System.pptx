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8" r:id="rId22"/>
    <p:sldId id="277" r:id="rId23"/>
    <p:sldId id="279" r:id="rId24"/>
    <p:sldId id="280" r:id="rId25"/>
    <p:sldId id="295" r:id="rId26"/>
    <p:sldId id="296" r:id="rId27"/>
    <p:sldId id="297" r:id="rId28"/>
  </p:sldIdLst>
  <p:sldSz cx="9144000" cy="5143500" type="screen16x9"/>
  <p:notesSz cx="6858000" cy="9144000"/>
  <p:embeddedFontLst>
    <p:embeddedFont>
      <p:font typeface="Montserrat" pitchFamily="2" charset="0"/>
      <p:regular r:id="rId30"/>
      <p:bold r:id="rId31"/>
      <p:italic r:id="rId32"/>
      <p:boldItalic r:id="rId33"/>
    </p:embeddedFont>
    <p:embeddedFont>
      <p:font typeface="Montserrat Light" panose="00000400000000000000" pitchFamily="2" charset="0"/>
      <p:regular r:id="rId34"/>
      <p:bold r:id="rId35"/>
      <p:italic r:id="rId36"/>
      <p:boldItalic r:id="rId37"/>
    </p:embeddedFont>
    <p:embeddedFont>
      <p:font typeface="Roboto" panose="020000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EABE30-3710-4AB7-993F-D74E6D828354}">
  <a:tblStyle styleId="{91EABE30-3710-4AB7-993F-D74E6D82835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001BE96-D96A-41CE-85EE-3CBC339B3FB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2304"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27ed9d2272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27ed9d2272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7ed9d2272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7ed9d2272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7f45edf15a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7f45edf15a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1050">
                <a:solidFill>
                  <a:srgbClr val="1F1F1F"/>
                </a:solidFill>
                <a:highlight>
                  <a:srgbClr val="FFFFFF"/>
                </a:highlight>
                <a:latin typeface="Roboto"/>
                <a:ea typeface="Roboto"/>
                <a:cs typeface="Roboto"/>
                <a:sym typeface="Roboto"/>
              </a:rPr>
              <a:t>Una mission è composta dallo space segment che comprende il satellite. Abbiamo il ground segment che comprende le ground stations, la mission control room ed eventualmente altre infrastrutture per la gestione ed analisi dei dati missione. Infine abbiamo lo user segment che comprende i clienti, la loro gestione e tutta l'infrastruttura per dare a loro i dati per cui hanno pagato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7ed9d22727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7ed9d22727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1050">
                <a:solidFill>
                  <a:srgbClr val="1F1F1F"/>
                </a:solidFill>
                <a:highlight>
                  <a:srgbClr val="FFFFFF"/>
                </a:highlight>
                <a:latin typeface="Roboto"/>
                <a:ea typeface="Roboto"/>
                <a:cs typeface="Roboto"/>
                <a:sym typeface="Roboto"/>
              </a:rPr>
              <a:t>La comunicazione può avvenire per questi 4 motivi</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7f45edf15a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7f45edf15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7f45edf15a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7f45edf15a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7f45edf15a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7f45edf15a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27f45edf15a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7f45edf15a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7f45edf15a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7f45edf15a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7f45edf15a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7f45edf15a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7f45edf15a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7f45edf15a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7f45edf15a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7f45edf15a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7f45edf15a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7f45edf15a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7f45edf15a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7f45edf15a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7f45edf15a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7f45edf15a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7f45edf15a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7f45edf15a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7f45edf15a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27f45edf15a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7f45edf15a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7f45edf15a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7f45edf15a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7f45edf15a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7f45edf15a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7f45edf15a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80af13c347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80af13c347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7f45edf15a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7f45edf15a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80af13c347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80af13c347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80af13c347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280af13c347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80af13c347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80af13c347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921C263E-2ECB-DD4A-650B-1BB974D7175F}"/>
            </a:ext>
          </a:extLst>
        </p:cNvPr>
        <p:cNvGrpSpPr/>
        <p:nvPr/>
      </p:nvGrpSpPr>
      <p:grpSpPr>
        <a:xfrm>
          <a:off x="0" y="0"/>
          <a:ext cx="0" cy="0"/>
          <a:chOff x="0" y="0"/>
          <a:chExt cx="0" cy="0"/>
        </a:xfrm>
      </p:grpSpPr>
      <p:sp>
        <p:nvSpPr>
          <p:cNvPr id="428" name="Google Shape;428;g280af13c347_0_95:notes">
            <a:extLst>
              <a:ext uri="{FF2B5EF4-FFF2-40B4-BE49-F238E27FC236}">
                <a16:creationId xmlns:a16="http://schemas.microsoft.com/office/drawing/2014/main" id="{75B11079-549B-FD9F-760C-0B1A5F1A2F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80af13c347_0_95:notes">
            <a:extLst>
              <a:ext uri="{FF2B5EF4-FFF2-40B4-BE49-F238E27FC236}">
                <a16:creationId xmlns:a16="http://schemas.microsoft.com/office/drawing/2014/main" id="{E8965754-D528-10F9-EC37-E72F5A9F01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8812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85C7C87C-34F3-6C8B-EBEA-F9BB45C55CE8}"/>
            </a:ext>
          </a:extLst>
        </p:cNvPr>
        <p:cNvGrpSpPr/>
        <p:nvPr/>
      </p:nvGrpSpPr>
      <p:grpSpPr>
        <a:xfrm>
          <a:off x="0" y="0"/>
          <a:ext cx="0" cy="0"/>
          <a:chOff x="0" y="0"/>
          <a:chExt cx="0" cy="0"/>
        </a:xfrm>
      </p:grpSpPr>
      <p:sp>
        <p:nvSpPr>
          <p:cNvPr id="428" name="Google Shape;428;g280af13c347_0_95:notes">
            <a:extLst>
              <a:ext uri="{FF2B5EF4-FFF2-40B4-BE49-F238E27FC236}">
                <a16:creationId xmlns:a16="http://schemas.microsoft.com/office/drawing/2014/main" id="{E609325B-66E9-5C66-F6F0-2DB071BEC2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80af13c347_0_95:notes">
            <a:extLst>
              <a:ext uri="{FF2B5EF4-FFF2-40B4-BE49-F238E27FC236}">
                <a16:creationId xmlns:a16="http://schemas.microsoft.com/office/drawing/2014/main" id="{36603766-41CA-2143-ECE9-A78636185B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7664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1"/>
        </a:solid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0" name="Google Shape;20;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 name="Google Shape;27;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ctr"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1" name="Google Shape;3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 name="Google Shape;35;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 name="Google Shape;36;p9"/>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Clr>
                <a:schemeClr val="dk1"/>
              </a:buClr>
              <a:buSzPts val="14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37" name="Google Shape;3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400"/>
              <a:buNone/>
              <a:defRPr/>
            </a:lvl1pPr>
          </a:lstStyle>
          <a:p>
            <a:endParaRPr/>
          </a:p>
        </p:txBody>
      </p:sp>
      <p:sp>
        <p:nvSpPr>
          <p:cNvPr id="40" name="Google Shape;4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4" name="Google Shape;44;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13"/>
          <p:cNvPicPr preferRelativeResize="0"/>
          <p:nvPr/>
        </p:nvPicPr>
        <p:blipFill>
          <a:blip r:embed="rId3">
            <a:alphaModFix/>
          </a:blip>
          <a:stretch>
            <a:fillRect/>
          </a:stretch>
        </p:blipFill>
        <p:spPr>
          <a:xfrm>
            <a:off x="0" y="0"/>
            <a:ext cx="9141767" cy="5143500"/>
          </a:xfrm>
          <a:prstGeom prst="rect">
            <a:avLst/>
          </a:prstGeom>
          <a:noFill/>
          <a:ln>
            <a:noFill/>
          </a:ln>
        </p:spPr>
      </p:pic>
      <p:sp>
        <p:nvSpPr>
          <p:cNvPr id="52" name="Google Shape;52;p13"/>
          <p:cNvSpPr/>
          <p:nvPr/>
        </p:nvSpPr>
        <p:spPr>
          <a:xfrm rot="5400000">
            <a:off x="5341525" y="-2254025"/>
            <a:ext cx="826800" cy="6783600"/>
          </a:xfrm>
          <a:prstGeom prst="rect">
            <a:avLst/>
          </a:prstGeom>
          <a:solidFill>
            <a:srgbClr val="464646">
              <a:alpha val="6470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53;p13"/>
          <p:cNvSpPr/>
          <p:nvPr/>
        </p:nvSpPr>
        <p:spPr>
          <a:xfrm>
            <a:off x="0" y="0"/>
            <a:ext cx="16152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 name="Google Shape;54;p13"/>
          <p:cNvSpPr txBox="1">
            <a:spLocks noGrp="1"/>
          </p:cNvSpPr>
          <p:nvPr>
            <p:ph type="ctrTitle" idx="4294967295"/>
          </p:nvPr>
        </p:nvSpPr>
        <p:spPr>
          <a:xfrm>
            <a:off x="2454900" y="809113"/>
            <a:ext cx="6534900" cy="65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t" sz="3600">
                <a:latin typeface="Montserrat"/>
                <a:ea typeface="Montserrat"/>
                <a:cs typeface="Montserrat"/>
                <a:sym typeface="Montserrat"/>
              </a:rPr>
              <a:t>Let’s learn about </a:t>
            </a:r>
            <a:r>
              <a:rPr lang="it" sz="3600" b="1">
                <a:latin typeface="Montserrat"/>
                <a:ea typeface="Montserrat"/>
                <a:cs typeface="Montserrat"/>
                <a:sym typeface="Montserrat"/>
              </a:rPr>
              <a:t>satellites</a:t>
            </a:r>
            <a:r>
              <a:rPr lang="it" sz="3600">
                <a:latin typeface="Montserrat"/>
                <a:ea typeface="Montserrat"/>
                <a:cs typeface="Montserrat"/>
                <a:sym typeface="Montserrat"/>
              </a:rPr>
              <a:t>!</a:t>
            </a:r>
            <a:endParaRPr sz="3600">
              <a:latin typeface="Montserrat"/>
              <a:ea typeface="Montserrat"/>
              <a:cs typeface="Montserrat"/>
              <a:sym typeface="Montserrat"/>
            </a:endParaRPr>
          </a:p>
        </p:txBody>
      </p:sp>
      <p:pic>
        <p:nvPicPr>
          <p:cNvPr id="55" name="Google Shape;55;p13"/>
          <p:cNvPicPr preferRelativeResize="0"/>
          <p:nvPr/>
        </p:nvPicPr>
        <p:blipFill rotWithShape="1">
          <a:blip r:embed="rId4">
            <a:alphaModFix/>
          </a:blip>
          <a:srcRect t="24036" b="31672"/>
          <a:stretch/>
        </p:blipFill>
        <p:spPr>
          <a:xfrm>
            <a:off x="65500" y="928120"/>
            <a:ext cx="1484200" cy="657375"/>
          </a:xfrm>
          <a:prstGeom prst="rect">
            <a:avLst/>
          </a:prstGeom>
          <a:noFill/>
          <a:ln>
            <a:noFill/>
          </a:ln>
        </p:spPr>
      </p:pic>
      <p:pic>
        <p:nvPicPr>
          <p:cNvPr id="56" name="Google Shape;56;p13"/>
          <p:cNvPicPr preferRelativeResize="0"/>
          <p:nvPr/>
        </p:nvPicPr>
        <p:blipFill>
          <a:blip r:embed="rId5">
            <a:alphaModFix/>
          </a:blip>
          <a:stretch>
            <a:fillRect/>
          </a:stretch>
        </p:blipFill>
        <p:spPr>
          <a:xfrm>
            <a:off x="65500" y="4027283"/>
            <a:ext cx="1484201" cy="593542"/>
          </a:xfrm>
          <a:prstGeom prst="rect">
            <a:avLst/>
          </a:prstGeom>
          <a:noFill/>
          <a:ln>
            <a:noFill/>
          </a:ln>
        </p:spPr>
      </p:pic>
      <p:sp>
        <p:nvSpPr>
          <p:cNvPr id="57" name="Google Shape;57;p13"/>
          <p:cNvSpPr txBox="1">
            <a:spLocks noGrp="1"/>
          </p:cNvSpPr>
          <p:nvPr>
            <p:ph type="ctrTitle" idx="4294967295"/>
          </p:nvPr>
        </p:nvSpPr>
        <p:spPr>
          <a:xfrm>
            <a:off x="2409000" y="2925925"/>
            <a:ext cx="6626700" cy="2087400"/>
          </a:xfrm>
          <a:prstGeom prst="rect">
            <a:avLst/>
          </a:prstGeom>
        </p:spPr>
        <p:txBody>
          <a:bodyPr spcFirstLastPara="1" wrap="square" lIns="91425" tIns="91425" rIns="91425" bIns="91425" anchor="t" anchorCtr="0">
            <a:noAutofit/>
          </a:bodyPr>
          <a:lstStyle/>
          <a:p>
            <a:pPr marL="914400" lvl="0" indent="0" algn="r" rtl="0">
              <a:spcBef>
                <a:spcPts val="0"/>
              </a:spcBef>
              <a:spcAft>
                <a:spcPts val="0"/>
              </a:spcAft>
              <a:buNone/>
            </a:pPr>
            <a:r>
              <a:rPr lang="it" sz="4100" b="1">
                <a:solidFill>
                  <a:schemeClr val="lt1"/>
                </a:solidFill>
                <a:latin typeface="Montserrat"/>
                <a:ea typeface="Montserrat"/>
                <a:cs typeface="Montserrat"/>
                <a:sym typeface="Montserrat"/>
              </a:rPr>
              <a:t>Satellite communication System</a:t>
            </a:r>
            <a:endParaRPr sz="4100" b="1">
              <a:solidFill>
                <a:schemeClr val="lt1"/>
              </a:solidFill>
              <a:latin typeface="Montserrat"/>
              <a:ea typeface="Montserrat"/>
              <a:cs typeface="Montserrat"/>
              <a:sym typeface="Montserrat"/>
            </a:endParaRPr>
          </a:p>
        </p:txBody>
      </p:sp>
      <p:sp>
        <p:nvSpPr>
          <p:cNvPr id="58" name="Google Shape;58;p13"/>
          <p:cNvSpPr txBox="1"/>
          <p:nvPr/>
        </p:nvSpPr>
        <p:spPr>
          <a:xfrm>
            <a:off x="3202750" y="1585500"/>
            <a:ext cx="5721000" cy="802500"/>
          </a:xfrm>
          <a:prstGeom prst="rect">
            <a:avLst/>
          </a:prstGeom>
          <a:noFill/>
          <a:ln>
            <a:noFill/>
          </a:ln>
        </p:spPr>
        <p:txBody>
          <a:bodyPr spcFirstLastPara="1" wrap="square" lIns="91425" tIns="91425" rIns="91425" bIns="91425" anchor="t" anchorCtr="0">
            <a:spAutoFit/>
          </a:bodyPr>
          <a:lstStyle/>
          <a:p>
            <a:pPr marL="457200" marR="38100" lvl="0" indent="0" algn="r" rtl="0">
              <a:lnSpc>
                <a:spcPct val="128571"/>
              </a:lnSpc>
              <a:spcBef>
                <a:spcPts val="0"/>
              </a:spcBef>
              <a:spcAft>
                <a:spcPts val="0"/>
              </a:spcAft>
              <a:buNone/>
            </a:pPr>
            <a:r>
              <a:rPr lang="it" sz="1800" b="1">
                <a:solidFill>
                  <a:schemeClr val="dk2"/>
                </a:solidFill>
                <a:latin typeface="Montserrat"/>
                <a:ea typeface="Montserrat"/>
                <a:cs typeface="Montserrat"/>
                <a:sym typeface="Montserrat"/>
              </a:rPr>
              <a:t>Space mission </a:t>
            </a:r>
            <a:r>
              <a:rPr lang="it" sz="1800">
                <a:solidFill>
                  <a:schemeClr val="dk2"/>
                </a:solidFill>
                <a:latin typeface="Montserrat Light"/>
                <a:ea typeface="Montserrat Light"/>
                <a:cs typeface="Montserrat Light"/>
                <a:sym typeface="Montserrat Light"/>
              </a:rPr>
              <a:t>and</a:t>
            </a:r>
            <a:r>
              <a:rPr lang="it" sz="1800" b="1">
                <a:solidFill>
                  <a:schemeClr val="dk2"/>
                </a:solidFill>
                <a:latin typeface="Montserrat"/>
                <a:ea typeface="Montserrat"/>
                <a:cs typeface="Montserrat"/>
                <a:sym typeface="Montserrat"/>
              </a:rPr>
              <a:t> satellite </a:t>
            </a:r>
            <a:r>
              <a:rPr lang="it" sz="1800">
                <a:solidFill>
                  <a:schemeClr val="dk2"/>
                </a:solidFill>
                <a:latin typeface="Montserrat Light"/>
                <a:ea typeface="Montserrat Light"/>
                <a:cs typeface="Montserrat Light"/>
                <a:sym typeface="Montserrat Light"/>
              </a:rPr>
              <a:t>design course</a:t>
            </a:r>
            <a:endParaRPr sz="1800">
              <a:solidFill>
                <a:schemeClr val="dk2"/>
              </a:solidFill>
              <a:latin typeface="Montserrat Light"/>
              <a:ea typeface="Montserrat Light"/>
              <a:cs typeface="Montserrat Light"/>
              <a:sym typeface="Montserrat Light"/>
            </a:endParaRPr>
          </a:p>
          <a:p>
            <a:pPr marL="0" marR="38100" lvl="0" indent="0" algn="ctr" rtl="0">
              <a:lnSpc>
                <a:spcPct val="128571"/>
              </a:lnSpc>
              <a:spcBef>
                <a:spcPts val="0"/>
              </a:spcBef>
              <a:spcAft>
                <a:spcPts val="0"/>
              </a:spcAft>
              <a:buNone/>
            </a:pPr>
            <a:endParaRPr sz="1700">
              <a:solidFill>
                <a:schemeClr val="dk2"/>
              </a:solidFill>
              <a:latin typeface="Montserrat Light"/>
              <a:ea typeface="Montserrat Light"/>
              <a:cs typeface="Montserrat Light"/>
              <a:sym typeface="Montserrat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 name="Google Shape;64;p14"/>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Telecommunication</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65" name="Google Shape;65;p14"/>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66" name="Google Shape;66;p14"/>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67" name="Google Shape;67;p14"/>
          <p:cNvSpPr txBox="1"/>
          <p:nvPr/>
        </p:nvSpPr>
        <p:spPr>
          <a:xfrm>
            <a:off x="1304538" y="1249325"/>
            <a:ext cx="7400400" cy="1415742"/>
          </a:xfrm>
          <a:prstGeom prst="rect">
            <a:avLst/>
          </a:prstGeom>
          <a:noFill/>
          <a:ln>
            <a:noFill/>
          </a:ln>
        </p:spPr>
        <p:txBody>
          <a:bodyPr spcFirstLastPara="1" wrap="square" lIns="91425" tIns="91425" rIns="91425" bIns="91425" anchor="t" anchorCtr="0">
            <a:spAutoFit/>
          </a:bodyPr>
          <a:lstStyle/>
          <a:p>
            <a:r>
              <a:rPr lang="en-US" sz="1600" dirty="0">
                <a:latin typeface="Montserrat Light" panose="00000400000000000000" pitchFamily="2" charset="0"/>
              </a:rPr>
              <a:t>The telecommunications system is critical for any space mission. </a:t>
            </a:r>
          </a:p>
          <a:p>
            <a:endParaRPr lang="en-US" sz="1600" dirty="0">
              <a:latin typeface="Montserrat Light" panose="00000400000000000000" pitchFamily="2" charset="0"/>
            </a:endParaRPr>
          </a:p>
          <a:p>
            <a:r>
              <a:rPr lang="en-US" sz="1600" dirty="0">
                <a:latin typeface="Montserrat Light" panose="00000400000000000000" pitchFamily="2" charset="0"/>
              </a:rPr>
              <a:t>Without a communication link, the spacecraft would simply become a very expensive piece of debris, as no telemetry, commands, or mission data could be exchanged with the ground.</a:t>
            </a:r>
          </a:p>
        </p:txBody>
      </p:sp>
      <p:pic>
        <p:nvPicPr>
          <p:cNvPr id="68" name="Google Shape;68;p14"/>
          <p:cNvPicPr preferRelativeResize="0"/>
          <p:nvPr/>
        </p:nvPicPr>
        <p:blipFill>
          <a:blip r:embed="rId5">
            <a:alphaModFix/>
          </a:blip>
          <a:stretch>
            <a:fillRect/>
          </a:stretch>
        </p:blipFill>
        <p:spPr>
          <a:xfrm>
            <a:off x="4332767" y="3063165"/>
            <a:ext cx="2210718" cy="16620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 name="Google Shape;74;p15"/>
          <p:cNvSpPr txBox="1">
            <a:spLocks noGrp="1"/>
          </p:cNvSpPr>
          <p:nvPr>
            <p:ph type="ctrTitle" idx="4294967295"/>
          </p:nvPr>
        </p:nvSpPr>
        <p:spPr>
          <a:xfrm>
            <a:off x="1304550" y="441725"/>
            <a:ext cx="72306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Segments of a space mission</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75" name="Google Shape;75;p15"/>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76" name="Google Shape;76;p15"/>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77" name="Google Shape;77;p15"/>
          <p:cNvSpPr txBox="1"/>
          <p:nvPr/>
        </p:nvSpPr>
        <p:spPr>
          <a:xfrm>
            <a:off x="1405125" y="1428025"/>
            <a:ext cx="7400400" cy="802500"/>
          </a:xfrm>
          <a:prstGeom prst="rect">
            <a:avLst/>
          </a:prstGeom>
          <a:noFill/>
          <a:ln>
            <a:noFill/>
          </a:ln>
        </p:spPr>
        <p:txBody>
          <a:bodyPr spcFirstLastPara="1" wrap="square" lIns="91425" tIns="91425" rIns="91425" bIns="91425" anchor="t" anchorCtr="0">
            <a:spAutoFit/>
          </a:bodyPr>
          <a:lstStyle/>
          <a:p>
            <a:pPr marL="0" marR="38100" lvl="0" indent="0" algn="l" rtl="0">
              <a:lnSpc>
                <a:spcPct val="128571"/>
              </a:lnSpc>
              <a:spcBef>
                <a:spcPts val="0"/>
              </a:spcBef>
              <a:spcAft>
                <a:spcPts val="0"/>
              </a:spcAft>
              <a:buNone/>
            </a:pPr>
            <a:endParaRPr sz="1800">
              <a:solidFill>
                <a:schemeClr val="dk2"/>
              </a:solidFill>
              <a:latin typeface="Montserrat Light"/>
              <a:ea typeface="Montserrat Light"/>
              <a:cs typeface="Montserrat Light"/>
              <a:sym typeface="Montserrat Light"/>
            </a:endParaRPr>
          </a:p>
          <a:p>
            <a:pPr marL="0" marR="38100" lvl="0" indent="0" algn="ctr" rtl="0">
              <a:lnSpc>
                <a:spcPct val="128571"/>
              </a:lnSpc>
              <a:spcBef>
                <a:spcPts val="0"/>
              </a:spcBef>
              <a:spcAft>
                <a:spcPts val="0"/>
              </a:spcAft>
              <a:buNone/>
            </a:pPr>
            <a:endParaRPr sz="1700">
              <a:solidFill>
                <a:schemeClr val="dk2"/>
              </a:solidFill>
              <a:latin typeface="Montserrat Light"/>
              <a:ea typeface="Montserrat Light"/>
              <a:cs typeface="Montserrat Light"/>
              <a:sym typeface="Montserrat Light"/>
            </a:endParaRPr>
          </a:p>
        </p:txBody>
      </p:sp>
      <p:pic>
        <p:nvPicPr>
          <p:cNvPr id="78" name="Google Shape;78;p15"/>
          <p:cNvPicPr preferRelativeResize="0"/>
          <p:nvPr/>
        </p:nvPicPr>
        <p:blipFill>
          <a:blip r:embed="rId5">
            <a:alphaModFix/>
          </a:blip>
          <a:stretch>
            <a:fillRect/>
          </a:stretch>
        </p:blipFill>
        <p:spPr>
          <a:xfrm>
            <a:off x="5950342" y="2571750"/>
            <a:ext cx="2855183" cy="2141394"/>
          </a:xfrm>
          <a:prstGeom prst="rect">
            <a:avLst/>
          </a:prstGeom>
          <a:noFill/>
          <a:ln>
            <a:noFill/>
          </a:ln>
        </p:spPr>
      </p:pic>
      <p:sp>
        <p:nvSpPr>
          <p:cNvPr id="3" name="CasellaDiTesto 2">
            <a:extLst>
              <a:ext uri="{FF2B5EF4-FFF2-40B4-BE49-F238E27FC236}">
                <a16:creationId xmlns:a16="http://schemas.microsoft.com/office/drawing/2014/main" id="{486B1FC0-ECE4-33A2-7F84-8BC86BD53060}"/>
              </a:ext>
            </a:extLst>
          </p:cNvPr>
          <p:cNvSpPr txBox="1"/>
          <p:nvPr/>
        </p:nvSpPr>
        <p:spPr>
          <a:xfrm>
            <a:off x="1378342" y="1371347"/>
            <a:ext cx="4416925" cy="3108543"/>
          </a:xfrm>
          <a:prstGeom prst="rect">
            <a:avLst/>
          </a:prstGeom>
          <a:noFill/>
        </p:spPr>
        <p:txBody>
          <a:bodyPr wrap="square">
            <a:spAutoFit/>
          </a:bodyPr>
          <a:lstStyle/>
          <a:p>
            <a:pPr>
              <a:buNone/>
            </a:pPr>
            <a:r>
              <a:rPr lang="en-US" dirty="0">
                <a:latin typeface="Montserrat Light" panose="00000400000000000000" pitchFamily="2" charset="0"/>
              </a:rPr>
              <a:t>A space mission is divided into three main segments:</a:t>
            </a:r>
          </a:p>
          <a:p>
            <a:pPr>
              <a:buNone/>
            </a:pPr>
            <a:endParaRPr lang="en-US" dirty="0">
              <a:latin typeface="Montserrat Light" panose="00000400000000000000" pitchFamily="2" charset="0"/>
            </a:endParaRPr>
          </a:p>
          <a:p>
            <a:pPr marL="285750" indent="-285750">
              <a:buFont typeface="Arial" panose="020B0604020202020204" pitchFamily="34" charset="0"/>
              <a:buChar char="•"/>
            </a:pPr>
            <a:r>
              <a:rPr lang="en-US" b="1" dirty="0">
                <a:solidFill>
                  <a:srgbClr val="FFC000"/>
                </a:solidFill>
                <a:latin typeface="Montserrat" pitchFamily="2" charset="0"/>
              </a:rPr>
              <a:t>Space Segment </a:t>
            </a:r>
            <a:r>
              <a:rPr lang="en-US" dirty="0">
                <a:latin typeface="Montserrat Light" panose="00000400000000000000" pitchFamily="2" charset="0"/>
              </a:rPr>
              <a:t>- the spacecraft and all onboard subsystems.</a:t>
            </a:r>
          </a:p>
          <a:p>
            <a:endParaRPr lang="en-US" dirty="0">
              <a:latin typeface="Montserrat Light" panose="00000400000000000000" pitchFamily="2" charset="0"/>
            </a:endParaRPr>
          </a:p>
          <a:p>
            <a:pPr marL="285750" indent="-285750">
              <a:buFont typeface="Arial" panose="020B0604020202020204" pitchFamily="34" charset="0"/>
              <a:buChar char="•"/>
            </a:pPr>
            <a:r>
              <a:rPr lang="en-US" b="1" dirty="0">
                <a:solidFill>
                  <a:srgbClr val="FFC000"/>
                </a:solidFill>
                <a:latin typeface="Montserrat" pitchFamily="2" charset="0"/>
              </a:rPr>
              <a:t>Ground Segment </a:t>
            </a:r>
            <a:r>
              <a:rPr lang="en-US" dirty="0">
                <a:latin typeface="Montserrat Light" panose="00000400000000000000" pitchFamily="2" charset="0"/>
              </a:rPr>
              <a:t>- ground stations, control centers, and communication infrastructure.</a:t>
            </a:r>
          </a:p>
          <a:p>
            <a:pPr marL="285750" indent="-285750">
              <a:buFont typeface="Arial" panose="020B0604020202020204" pitchFamily="34" charset="0"/>
              <a:buChar char="•"/>
            </a:pPr>
            <a:endParaRPr lang="en-US" dirty="0">
              <a:latin typeface="Montserrat Light" panose="00000400000000000000" pitchFamily="2" charset="0"/>
            </a:endParaRPr>
          </a:p>
          <a:p>
            <a:pPr marL="285750" indent="-285750">
              <a:buFont typeface="Arial" panose="020B0604020202020204" pitchFamily="34" charset="0"/>
              <a:buChar char="•"/>
            </a:pPr>
            <a:r>
              <a:rPr lang="en-US" b="1" dirty="0">
                <a:solidFill>
                  <a:srgbClr val="FFC000"/>
                </a:solidFill>
                <a:latin typeface="Montserrat" pitchFamily="2" charset="0"/>
              </a:rPr>
              <a:t>User Segment </a:t>
            </a:r>
            <a:r>
              <a:rPr lang="en-US" dirty="0">
                <a:latin typeface="Montserrat Light" panose="00000400000000000000" pitchFamily="2" charset="0"/>
              </a:rPr>
              <a:t>- the final users who receive and exploit mission data.</a:t>
            </a:r>
          </a:p>
          <a:p>
            <a:pPr>
              <a:buNone/>
            </a:pPr>
            <a:endParaRPr lang="en-US" dirty="0">
              <a:latin typeface="Montserrat Light" panose="00000400000000000000" pitchFamily="2" charset="0"/>
            </a:endParaRPr>
          </a:p>
          <a:p>
            <a:pPr>
              <a:buNone/>
            </a:pPr>
            <a:r>
              <a:rPr lang="en-US" dirty="0">
                <a:latin typeface="Montserrat Light" panose="00000400000000000000" pitchFamily="2" charset="0"/>
              </a:rPr>
              <a:t>The telecommunication system connects all three segments into a single operational chain.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p16"/>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Why do we communicate?</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85" name="Google Shape;85;p16"/>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86" name="Google Shape;86;p16"/>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87" name="Google Shape;87;p16"/>
          <p:cNvSpPr txBox="1"/>
          <p:nvPr/>
        </p:nvSpPr>
        <p:spPr>
          <a:xfrm>
            <a:off x="1304550" y="1357895"/>
            <a:ext cx="7413600" cy="3416290"/>
          </a:xfrm>
          <a:prstGeom prst="rect">
            <a:avLst/>
          </a:prstGeom>
          <a:noFill/>
          <a:ln>
            <a:noFill/>
          </a:ln>
        </p:spPr>
        <p:txBody>
          <a:bodyPr spcFirstLastPara="1" wrap="square" lIns="91425" tIns="91425" rIns="91425" bIns="91425" anchor="t" anchorCtr="0">
            <a:spAutoFit/>
          </a:bodyPr>
          <a:lstStyle/>
          <a:p>
            <a:r>
              <a:rPr lang="en-US" dirty="0">
                <a:latin typeface="Montserrat Light" panose="00000400000000000000" pitchFamily="2" charset="0"/>
              </a:rPr>
              <a:t>Satellite communications serve four primary purposes:</a:t>
            </a:r>
          </a:p>
          <a:p>
            <a:endParaRPr lang="en-US" dirty="0">
              <a:latin typeface="Montserrat Light" panose="00000400000000000000" pitchFamily="2" charset="0"/>
            </a:endParaRPr>
          </a:p>
          <a:p>
            <a:r>
              <a:rPr lang="en-US" b="1" dirty="0">
                <a:solidFill>
                  <a:srgbClr val="FFC000"/>
                </a:solidFill>
                <a:latin typeface="Montserrat" pitchFamily="2" charset="0"/>
              </a:rPr>
              <a:t>Telemetry</a:t>
            </a:r>
            <a:br>
              <a:rPr lang="en-US" dirty="0">
                <a:latin typeface="Montserrat Light" panose="00000400000000000000" pitchFamily="2" charset="0"/>
              </a:rPr>
            </a:br>
            <a:r>
              <a:rPr lang="en-US" dirty="0">
                <a:latin typeface="Montserrat Light" panose="00000400000000000000" pitchFamily="2" charset="0"/>
              </a:rPr>
              <a:t>The spacecraft sends health and status data to monitor subsystem performance.</a:t>
            </a:r>
          </a:p>
          <a:p>
            <a:endParaRPr lang="en-US" dirty="0">
              <a:latin typeface="Montserrat Light" panose="00000400000000000000" pitchFamily="2" charset="0"/>
            </a:endParaRPr>
          </a:p>
          <a:p>
            <a:r>
              <a:rPr lang="en-US" b="1" dirty="0">
                <a:solidFill>
                  <a:srgbClr val="FFC000"/>
                </a:solidFill>
                <a:latin typeface="Montserrat" pitchFamily="2" charset="0"/>
              </a:rPr>
              <a:t>Telecommands</a:t>
            </a:r>
            <a:br>
              <a:rPr lang="en-US" dirty="0">
                <a:latin typeface="Montserrat Light" panose="00000400000000000000" pitchFamily="2" charset="0"/>
              </a:rPr>
            </a:br>
            <a:r>
              <a:rPr lang="en-US" dirty="0">
                <a:latin typeface="Montserrat Light" panose="00000400000000000000" pitchFamily="2" charset="0"/>
              </a:rPr>
              <a:t>The ground segment sends commands to control and operate the spacecraft.</a:t>
            </a:r>
          </a:p>
          <a:p>
            <a:endParaRPr lang="en-US" dirty="0">
              <a:latin typeface="Montserrat Light" panose="00000400000000000000" pitchFamily="2" charset="0"/>
            </a:endParaRPr>
          </a:p>
          <a:p>
            <a:r>
              <a:rPr lang="en-US" b="1" dirty="0">
                <a:solidFill>
                  <a:srgbClr val="FFC000"/>
                </a:solidFill>
                <a:latin typeface="Montserrat" pitchFamily="2" charset="0"/>
              </a:rPr>
              <a:t>Tracking</a:t>
            </a:r>
            <a:br>
              <a:rPr lang="en-US" dirty="0">
                <a:latin typeface="Montserrat Light" panose="00000400000000000000" pitchFamily="2" charset="0"/>
              </a:rPr>
            </a:br>
            <a:r>
              <a:rPr lang="en-US" dirty="0">
                <a:latin typeface="Montserrat Light" panose="00000400000000000000" pitchFamily="2" charset="0"/>
              </a:rPr>
              <a:t>Radio signals allow the determination of spacecraft position and velocity.</a:t>
            </a:r>
          </a:p>
          <a:p>
            <a:endParaRPr lang="en-US" dirty="0">
              <a:latin typeface="Montserrat Light" panose="00000400000000000000" pitchFamily="2" charset="0"/>
            </a:endParaRPr>
          </a:p>
          <a:p>
            <a:r>
              <a:rPr lang="en-US" b="1" dirty="0">
                <a:solidFill>
                  <a:srgbClr val="FFC000"/>
                </a:solidFill>
                <a:latin typeface="Montserrat" pitchFamily="2" charset="0"/>
              </a:rPr>
              <a:t>Payload Data</a:t>
            </a:r>
            <a:br>
              <a:rPr lang="en-US" dirty="0">
                <a:latin typeface="Montserrat Light" panose="00000400000000000000" pitchFamily="2" charset="0"/>
              </a:rPr>
            </a:br>
            <a:r>
              <a:rPr lang="en-US" dirty="0">
                <a:latin typeface="Montserrat Light" panose="00000400000000000000" pitchFamily="2" charset="0"/>
              </a:rPr>
              <a:t>Scientific or commercial mission data is transmitted back to Earth.</a:t>
            </a:r>
          </a:p>
          <a:p>
            <a:endParaRPr lang="en-US" dirty="0">
              <a:latin typeface="Montserrat Light" panose="00000400000000000000" pitchFamily="2" charset="0"/>
            </a:endParaRPr>
          </a:p>
          <a:p>
            <a:r>
              <a:rPr lang="en-US" dirty="0">
                <a:latin typeface="Montserrat Light" panose="00000400000000000000" pitchFamily="2" charset="0"/>
              </a:rPr>
              <a:t>Without these functions, mission objectives cannot be achieved.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p17"/>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Mission data size</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94" name="Google Shape;94;p17"/>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95" name="Google Shape;95;p17"/>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96" name="Google Shape;96;p17"/>
          <p:cNvSpPr txBox="1"/>
          <p:nvPr/>
        </p:nvSpPr>
        <p:spPr>
          <a:xfrm>
            <a:off x="1405125" y="1428025"/>
            <a:ext cx="7400400" cy="1697400"/>
          </a:xfrm>
          <a:prstGeom prst="rect">
            <a:avLst/>
          </a:prstGeom>
          <a:noFill/>
          <a:ln>
            <a:noFill/>
          </a:ln>
        </p:spPr>
        <p:txBody>
          <a:bodyPr spcFirstLastPara="1" wrap="square" lIns="91425" tIns="91425" rIns="91425" bIns="91425" anchor="t" anchorCtr="0">
            <a:spAutoFit/>
          </a:bodyPr>
          <a:lstStyle/>
          <a:p>
            <a:pPr marL="0" marR="38100" lvl="0" indent="0" algn="l" rtl="0">
              <a:lnSpc>
                <a:spcPct val="128571"/>
              </a:lnSpc>
              <a:spcBef>
                <a:spcPts val="0"/>
              </a:spcBef>
              <a:spcAft>
                <a:spcPts val="0"/>
              </a:spcAft>
              <a:buNone/>
            </a:pPr>
            <a:r>
              <a:rPr lang="it" sz="1600">
                <a:solidFill>
                  <a:schemeClr val="dk2"/>
                </a:solidFill>
                <a:latin typeface="Montserrat Light"/>
                <a:ea typeface="Montserrat Light"/>
                <a:cs typeface="Montserrat Light"/>
                <a:sym typeface="Montserrat Light"/>
              </a:rPr>
              <a:t>How much data generates each part of the mission?</a:t>
            </a:r>
            <a:endParaRPr sz="1600">
              <a:solidFill>
                <a:schemeClr val="dk2"/>
              </a:solidFill>
              <a:latin typeface="Montserrat Light"/>
              <a:ea typeface="Montserrat Light"/>
              <a:cs typeface="Montserrat Light"/>
              <a:sym typeface="Montserrat Light"/>
            </a:endParaRPr>
          </a:p>
          <a:p>
            <a:pPr marL="0" marR="38100" lvl="0" indent="0" algn="l" rtl="0">
              <a:lnSpc>
                <a:spcPct val="128571"/>
              </a:lnSpc>
              <a:spcBef>
                <a:spcPts val="0"/>
              </a:spcBef>
              <a:spcAft>
                <a:spcPts val="0"/>
              </a:spcAft>
              <a:buNone/>
            </a:pPr>
            <a:endParaRPr sz="1600">
              <a:solidFill>
                <a:schemeClr val="dk2"/>
              </a:solidFill>
              <a:latin typeface="Montserrat Light"/>
              <a:ea typeface="Montserrat Light"/>
              <a:cs typeface="Montserrat Light"/>
              <a:sym typeface="Montserrat Light"/>
            </a:endParaRPr>
          </a:p>
          <a:p>
            <a:pPr marL="457200" marR="38100" lvl="0" indent="-330200" algn="l" rtl="0">
              <a:lnSpc>
                <a:spcPct val="128571"/>
              </a:lnSpc>
              <a:spcBef>
                <a:spcPts val="0"/>
              </a:spcBef>
              <a:spcAft>
                <a:spcPts val="0"/>
              </a:spcAft>
              <a:buClr>
                <a:schemeClr val="dk2"/>
              </a:buClr>
              <a:buSzPts val="1600"/>
              <a:buFont typeface="Montserrat"/>
              <a:buAutoNum type="arabicPeriod"/>
            </a:pPr>
            <a:r>
              <a:rPr lang="it" sz="1600" b="1">
                <a:solidFill>
                  <a:schemeClr val="lt1"/>
                </a:solidFill>
                <a:latin typeface="Montserrat"/>
                <a:ea typeface="Montserrat"/>
                <a:cs typeface="Montserrat"/>
                <a:sym typeface="Montserrat"/>
              </a:rPr>
              <a:t>Telemetry: </a:t>
            </a:r>
            <a:r>
              <a:rPr lang="it" sz="1600">
                <a:solidFill>
                  <a:schemeClr val="dk2"/>
                </a:solidFill>
                <a:latin typeface="Montserrat Light"/>
                <a:ea typeface="Montserrat Light"/>
                <a:cs typeface="Montserrat Light"/>
                <a:sym typeface="Montserrat Light"/>
              </a:rPr>
              <a:t>typically ranges between </a:t>
            </a:r>
            <a:r>
              <a:rPr lang="it" sz="1600" b="1">
                <a:solidFill>
                  <a:schemeClr val="dk2"/>
                </a:solidFill>
                <a:latin typeface="Montserrat"/>
                <a:ea typeface="Montserrat"/>
                <a:cs typeface="Montserrat"/>
                <a:sym typeface="Montserrat"/>
              </a:rPr>
              <a:t>bytes </a:t>
            </a:r>
            <a:r>
              <a:rPr lang="it" sz="1600">
                <a:solidFill>
                  <a:schemeClr val="dk2"/>
                </a:solidFill>
                <a:latin typeface="Montserrat Light"/>
                <a:ea typeface="Montserrat Light"/>
                <a:cs typeface="Montserrat Light"/>
                <a:sym typeface="Montserrat Light"/>
              </a:rPr>
              <a:t>and </a:t>
            </a:r>
            <a:r>
              <a:rPr lang="it" sz="1600" b="1">
                <a:solidFill>
                  <a:schemeClr val="dk2"/>
                </a:solidFill>
                <a:latin typeface="Montserrat"/>
                <a:ea typeface="Montserrat"/>
                <a:cs typeface="Montserrat"/>
                <a:sym typeface="Montserrat"/>
              </a:rPr>
              <a:t>kbytes</a:t>
            </a:r>
            <a:endParaRPr sz="1600" b="1">
              <a:solidFill>
                <a:schemeClr val="dk2"/>
              </a:solidFill>
              <a:latin typeface="Montserrat"/>
              <a:ea typeface="Montserrat"/>
              <a:cs typeface="Montserrat"/>
              <a:sym typeface="Montserrat"/>
            </a:endParaRPr>
          </a:p>
          <a:p>
            <a:pPr marL="457200" marR="38100" lvl="0" indent="-330200" algn="l" rtl="0">
              <a:lnSpc>
                <a:spcPct val="128571"/>
              </a:lnSpc>
              <a:spcBef>
                <a:spcPts val="0"/>
              </a:spcBef>
              <a:spcAft>
                <a:spcPts val="0"/>
              </a:spcAft>
              <a:buClr>
                <a:schemeClr val="dk2"/>
              </a:buClr>
              <a:buSzPts val="1600"/>
              <a:buFont typeface="Montserrat"/>
              <a:buAutoNum type="arabicPeriod"/>
            </a:pPr>
            <a:r>
              <a:rPr lang="it" sz="1600" b="1">
                <a:solidFill>
                  <a:schemeClr val="lt1"/>
                </a:solidFill>
                <a:latin typeface="Montserrat"/>
                <a:ea typeface="Montserrat"/>
                <a:cs typeface="Montserrat"/>
                <a:sym typeface="Montserrat"/>
              </a:rPr>
              <a:t>Commands: </a:t>
            </a:r>
            <a:r>
              <a:rPr lang="it" sz="1600">
                <a:solidFill>
                  <a:schemeClr val="dk2"/>
                </a:solidFill>
                <a:latin typeface="Montserrat Light"/>
                <a:ea typeface="Montserrat Light"/>
                <a:cs typeface="Montserrat Light"/>
                <a:sym typeface="Montserrat Light"/>
              </a:rPr>
              <a:t>typically ranges between </a:t>
            </a:r>
            <a:r>
              <a:rPr lang="it" sz="1600" b="1">
                <a:solidFill>
                  <a:schemeClr val="dk2"/>
                </a:solidFill>
                <a:latin typeface="Montserrat"/>
                <a:ea typeface="Montserrat"/>
                <a:cs typeface="Montserrat"/>
                <a:sym typeface="Montserrat"/>
              </a:rPr>
              <a:t>bytes </a:t>
            </a:r>
            <a:r>
              <a:rPr lang="it" sz="1600">
                <a:solidFill>
                  <a:schemeClr val="dk2"/>
                </a:solidFill>
                <a:latin typeface="Montserrat Light"/>
                <a:ea typeface="Montserrat Light"/>
                <a:cs typeface="Montserrat Light"/>
                <a:sym typeface="Montserrat Light"/>
              </a:rPr>
              <a:t>and </a:t>
            </a:r>
            <a:r>
              <a:rPr lang="it" sz="1600" b="1">
                <a:solidFill>
                  <a:schemeClr val="dk2"/>
                </a:solidFill>
                <a:latin typeface="Montserrat"/>
                <a:ea typeface="Montserrat"/>
                <a:cs typeface="Montserrat"/>
                <a:sym typeface="Montserrat"/>
              </a:rPr>
              <a:t>Mbytes</a:t>
            </a:r>
            <a:endParaRPr sz="1600" b="1">
              <a:solidFill>
                <a:schemeClr val="dk2"/>
              </a:solidFill>
              <a:latin typeface="Montserrat"/>
              <a:ea typeface="Montserrat"/>
              <a:cs typeface="Montserrat"/>
              <a:sym typeface="Montserrat"/>
            </a:endParaRPr>
          </a:p>
          <a:p>
            <a:pPr marL="457200" marR="38100" lvl="0" indent="-330200" algn="l" rtl="0">
              <a:lnSpc>
                <a:spcPct val="128571"/>
              </a:lnSpc>
              <a:spcBef>
                <a:spcPts val="0"/>
              </a:spcBef>
              <a:spcAft>
                <a:spcPts val="0"/>
              </a:spcAft>
              <a:buClr>
                <a:schemeClr val="dk2"/>
              </a:buClr>
              <a:buSzPts val="1600"/>
              <a:buFont typeface="Montserrat"/>
              <a:buAutoNum type="arabicPeriod"/>
            </a:pPr>
            <a:r>
              <a:rPr lang="it" sz="1600" b="1">
                <a:solidFill>
                  <a:schemeClr val="lt1"/>
                </a:solidFill>
                <a:latin typeface="Montserrat"/>
                <a:ea typeface="Montserrat"/>
                <a:cs typeface="Montserrat"/>
                <a:sym typeface="Montserrat"/>
              </a:rPr>
              <a:t>Payload: </a:t>
            </a:r>
            <a:r>
              <a:rPr lang="it" sz="1600">
                <a:solidFill>
                  <a:schemeClr val="dk2"/>
                </a:solidFill>
                <a:latin typeface="Montserrat Light"/>
                <a:ea typeface="Montserrat Light"/>
                <a:cs typeface="Montserrat Light"/>
                <a:sym typeface="Montserrat Light"/>
              </a:rPr>
              <a:t>typically ranges between </a:t>
            </a:r>
            <a:r>
              <a:rPr lang="it" sz="1600" b="1">
                <a:solidFill>
                  <a:schemeClr val="dk2"/>
                </a:solidFill>
                <a:latin typeface="Montserrat"/>
                <a:ea typeface="Montserrat"/>
                <a:cs typeface="Montserrat"/>
                <a:sym typeface="Montserrat"/>
              </a:rPr>
              <a:t>kbytes </a:t>
            </a:r>
            <a:r>
              <a:rPr lang="it" sz="1600">
                <a:solidFill>
                  <a:schemeClr val="dk2"/>
                </a:solidFill>
                <a:latin typeface="Montserrat Light"/>
                <a:ea typeface="Montserrat Light"/>
                <a:cs typeface="Montserrat Light"/>
                <a:sym typeface="Montserrat Light"/>
              </a:rPr>
              <a:t>and </a:t>
            </a:r>
            <a:r>
              <a:rPr lang="it" sz="1600" b="1">
                <a:solidFill>
                  <a:schemeClr val="dk2"/>
                </a:solidFill>
                <a:latin typeface="Montserrat"/>
                <a:ea typeface="Montserrat"/>
                <a:cs typeface="Montserrat"/>
                <a:sym typeface="Montserrat"/>
              </a:rPr>
              <a:t>Tbytes</a:t>
            </a:r>
            <a:endParaRPr sz="1600">
              <a:solidFill>
                <a:schemeClr val="dk2"/>
              </a:solidFill>
              <a:latin typeface="Montserrat Light"/>
              <a:ea typeface="Montserrat Light"/>
              <a:cs typeface="Montserrat Light"/>
              <a:sym typeface="Montserrat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 name="Google Shape;102;p18"/>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Mission example</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103" name="Google Shape;103;p18"/>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104" name="Google Shape;104;p18"/>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105" name="Google Shape;105;p18"/>
          <p:cNvSpPr txBox="1"/>
          <p:nvPr/>
        </p:nvSpPr>
        <p:spPr>
          <a:xfrm>
            <a:off x="1418250" y="1467400"/>
            <a:ext cx="7321800" cy="3003612"/>
          </a:xfrm>
          <a:prstGeom prst="rect">
            <a:avLst/>
          </a:prstGeom>
          <a:noFill/>
          <a:ln>
            <a:noFill/>
          </a:ln>
        </p:spPr>
        <p:txBody>
          <a:bodyPr spcFirstLastPara="1" wrap="square" lIns="91425" tIns="91425" rIns="91425" bIns="91425" anchor="t" anchorCtr="0">
            <a:spAutoFit/>
          </a:bodyPr>
          <a:lstStyle/>
          <a:p>
            <a:pPr marL="0" marR="38100" lvl="0" indent="0" algn="l" rtl="0">
              <a:lnSpc>
                <a:spcPct val="128571"/>
              </a:lnSpc>
              <a:spcBef>
                <a:spcPts val="0"/>
              </a:spcBef>
              <a:spcAft>
                <a:spcPts val="0"/>
              </a:spcAft>
              <a:buNone/>
            </a:pPr>
            <a:r>
              <a:rPr lang="it" sz="1500" dirty="0">
                <a:solidFill>
                  <a:schemeClr val="dk2"/>
                </a:solidFill>
                <a:latin typeface="Montserrat Light"/>
                <a:ea typeface="Montserrat Light"/>
                <a:cs typeface="Montserrat Light"/>
                <a:sym typeface="Montserrat Light"/>
              </a:rPr>
              <a:t>Let’s take, for instance, a 1U mission wh</a:t>
            </a:r>
            <a:r>
              <a:rPr lang="it" sz="1500" dirty="0">
                <a:solidFill>
                  <a:schemeClr val="lt1"/>
                </a:solidFill>
                <a:latin typeface="Montserrat Light"/>
                <a:ea typeface="Montserrat Light"/>
                <a:cs typeface="Montserrat Light"/>
                <a:sym typeface="Montserrat Light"/>
              </a:rPr>
              <a:t>ich has a </a:t>
            </a:r>
            <a:r>
              <a:rPr lang="it" sz="1500" b="1" dirty="0">
                <a:solidFill>
                  <a:schemeClr val="lt1"/>
                </a:solidFill>
                <a:latin typeface="Montserrat"/>
                <a:ea typeface="Montserrat"/>
                <a:cs typeface="Montserrat"/>
                <a:sym typeface="Montserrat"/>
              </a:rPr>
              <a:t>4MP </a:t>
            </a:r>
            <a:r>
              <a:rPr lang="it" sz="1500" dirty="0">
                <a:solidFill>
                  <a:schemeClr val="lt1"/>
                </a:solidFill>
                <a:latin typeface="Montserrat Light"/>
                <a:ea typeface="Montserrat Light"/>
                <a:cs typeface="Montserrat Light"/>
                <a:sym typeface="Montserrat Light"/>
              </a:rPr>
              <a:t>payload camera.</a:t>
            </a:r>
            <a:endParaRPr sz="1500" dirty="0">
              <a:solidFill>
                <a:schemeClr val="lt1"/>
              </a:solidFill>
              <a:latin typeface="Montserrat Light"/>
              <a:ea typeface="Montserrat Light"/>
              <a:cs typeface="Montserrat Light"/>
              <a:sym typeface="Montserrat Light"/>
            </a:endParaRPr>
          </a:p>
          <a:p>
            <a:pPr marL="457200" marR="38100" lvl="0" indent="-323850" algn="l" rtl="0">
              <a:lnSpc>
                <a:spcPct val="128571"/>
              </a:lnSpc>
              <a:spcBef>
                <a:spcPts val="0"/>
              </a:spcBef>
              <a:spcAft>
                <a:spcPts val="0"/>
              </a:spcAft>
              <a:buClr>
                <a:schemeClr val="lt1"/>
              </a:buClr>
              <a:buSzPts val="1500"/>
              <a:buChar char="●"/>
            </a:pPr>
            <a:r>
              <a:rPr lang="it" sz="1500" dirty="0">
                <a:solidFill>
                  <a:schemeClr val="lt1"/>
                </a:solidFill>
                <a:latin typeface="Montserrat Light"/>
                <a:ea typeface="Montserrat Light"/>
                <a:cs typeface="Montserrat Light"/>
                <a:sym typeface="Montserrat Light"/>
              </a:rPr>
              <a:t>We take </a:t>
            </a:r>
            <a:r>
              <a:rPr lang="it" sz="1500" b="1" dirty="0">
                <a:solidFill>
                  <a:schemeClr val="lt1"/>
                </a:solidFill>
                <a:latin typeface="Montserrat"/>
                <a:ea typeface="Montserrat"/>
                <a:cs typeface="Montserrat"/>
                <a:sym typeface="Montserrat"/>
              </a:rPr>
              <a:t>150 </a:t>
            </a:r>
            <a:r>
              <a:rPr lang="it" sz="1500" dirty="0">
                <a:solidFill>
                  <a:schemeClr val="lt1"/>
                </a:solidFill>
                <a:latin typeface="Montserrat Light"/>
                <a:ea typeface="Montserrat Light"/>
                <a:cs typeface="Montserrat Light"/>
                <a:sym typeface="Montserrat Light"/>
              </a:rPr>
              <a:t>photos a day.</a:t>
            </a:r>
            <a:endParaRPr sz="1500" dirty="0">
              <a:solidFill>
                <a:schemeClr val="lt1"/>
              </a:solidFill>
              <a:latin typeface="Montserrat Light"/>
              <a:ea typeface="Montserrat Light"/>
              <a:cs typeface="Montserrat Light"/>
              <a:sym typeface="Montserrat Light"/>
            </a:endParaRPr>
          </a:p>
          <a:p>
            <a:pPr marL="457200" marR="38100" lvl="0" indent="-323850" algn="l" rtl="0">
              <a:lnSpc>
                <a:spcPct val="128571"/>
              </a:lnSpc>
              <a:spcBef>
                <a:spcPts val="0"/>
              </a:spcBef>
              <a:spcAft>
                <a:spcPts val="0"/>
              </a:spcAft>
              <a:buClr>
                <a:schemeClr val="lt1"/>
              </a:buClr>
              <a:buSzPts val="1500"/>
              <a:buFont typeface="Montserrat Light"/>
              <a:buChar char="●"/>
            </a:pPr>
            <a:r>
              <a:rPr lang="it" sz="1500" dirty="0">
                <a:solidFill>
                  <a:schemeClr val="lt1"/>
                </a:solidFill>
                <a:latin typeface="Montserrat Light"/>
                <a:ea typeface="Montserrat Light"/>
                <a:cs typeface="Montserrat Light"/>
                <a:sym typeface="Montserrat Light"/>
              </a:rPr>
              <a:t>The telemetry parameters are read one time every </a:t>
            </a:r>
            <a:r>
              <a:rPr lang="it" sz="1500" b="1" dirty="0">
                <a:solidFill>
                  <a:schemeClr val="lt1"/>
                </a:solidFill>
                <a:latin typeface="Montserrat"/>
                <a:ea typeface="Montserrat"/>
                <a:cs typeface="Montserrat"/>
                <a:sym typeface="Montserrat"/>
              </a:rPr>
              <a:t>5</a:t>
            </a:r>
            <a:r>
              <a:rPr lang="it" sz="1500" dirty="0">
                <a:solidFill>
                  <a:schemeClr val="lt1"/>
                </a:solidFill>
                <a:latin typeface="Montserrat Light"/>
                <a:ea typeface="Montserrat Light"/>
                <a:cs typeface="Montserrat Light"/>
                <a:sym typeface="Montserrat Light"/>
              </a:rPr>
              <a:t> seconds</a:t>
            </a:r>
          </a:p>
          <a:p>
            <a:pPr marL="457200" marR="38100" lvl="0" indent="-323850" algn="l" rtl="0">
              <a:lnSpc>
                <a:spcPct val="128571"/>
              </a:lnSpc>
              <a:spcBef>
                <a:spcPts val="0"/>
              </a:spcBef>
              <a:spcAft>
                <a:spcPts val="0"/>
              </a:spcAft>
              <a:buClr>
                <a:schemeClr val="lt1"/>
              </a:buClr>
              <a:buSzPts val="1500"/>
              <a:buFont typeface="Montserrat Light"/>
              <a:buChar char="●"/>
            </a:pPr>
            <a:endParaRPr lang="it" sz="1500" dirty="0">
              <a:solidFill>
                <a:schemeClr val="lt1"/>
              </a:solidFill>
              <a:latin typeface="Montserrat Light"/>
              <a:ea typeface="Montserrat Light"/>
              <a:cs typeface="Montserrat Light"/>
              <a:sym typeface="Montserrat Light"/>
            </a:endParaRPr>
          </a:p>
          <a:p>
            <a:pPr marL="133350" marR="38100">
              <a:lnSpc>
                <a:spcPct val="128571"/>
              </a:lnSpc>
              <a:buClr>
                <a:schemeClr val="lt1"/>
              </a:buClr>
              <a:buSzPts val="1500"/>
            </a:pPr>
            <a:r>
              <a:rPr lang="en-US" sz="1600" dirty="0">
                <a:latin typeface="Montserrat Light" panose="00000400000000000000" pitchFamily="2" charset="0"/>
              </a:rPr>
              <a:t>This simple scenario already highlights how payload quickly dominates total data generation.</a:t>
            </a:r>
          </a:p>
          <a:p>
            <a:pPr marL="133350" marR="38100" lvl="0" algn="l" rtl="0">
              <a:lnSpc>
                <a:spcPct val="128571"/>
              </a:lnSpc>
              <a:spcBef>
                <a:spcPts val="0"/>
              </a:spcBef>
              <a:spcAft>
                <a:spcPts val="0"/>
              </a:spcAft>
              <a:buClr>
                <a:schemeClr val="lt1"/>
              </a:buClr>
              <a:buSzPts val="1500"/>
            </a:pPr>
            <a:endParaRPr sz="1500" dirty="0">
              <a:solidFill>
                <a:schemeClr val="lt1"/>
              </a:solidFill>
              <a:latin typeface="Montserrat Light"/>
              <a:ea typeface="Montserrat Light"/>
              <a:cs typeface="Montserrat Light"/>
              <a:sym typeface="Montserrat Light"/>
            </a:endParaRPr>
          </a:p>
          <a:p>
            <a:pPr marL="0" marR="38100" lvl="0" indent="0" algn="l" rtl="0">
              <a:lnSpc>
                <a:spcPct val="128571"/>
              </a:lnSpc>
              <a:spcBef>
                <a:spcPts val="0"/>
              </a:spcBef>
              <a:spcAft>
                <a:spcPts val="0"/>
              </a:spcAft>
              <a:buNone/>
            </a:pPr>
            <a:endParaRPr sz="1800" dirty="0">
              <a:solidFill>
                <a:schemeClr val="dk2"/>
              </a:solidFill>
              <a:latin typeface="Montserrat Light"/>
              <a:ea typeface="Montserrat Light"/>
              <a:cs typeface="Montserrat Light"/>
              <a:sym typeface="Montserrat Light"/>
            </a:endParaRPr>
          </a:p>
          <a:p>
            <a:pPr marL="0" marR="38100" lvl="0" indent="0" algn="ctr" rtl="0">
              <a:lnSpc>
                <a:spcPct val="128571"/>
              </a:lnSpc>
              <a:spcBef>
                <a:spcPts val="0"/>
              </a:spcBef>
              <a:spcAft>
                <a:spcPts val="0"/>
              </a:spcAft>
              <a:buNone/>
            </a:pPr>
            <a:endParaRPr sz="1700" dirty="0">
              <a:solidFill>
                <a:schemeClr val="dk2"/>
              </a:solidFill>
              <a:latin typeface="Montserrat Light"/>
              <a:ea typeface="Montserrat Light"/>
              <a:cs typeface="Montserrat Light"/>
              <a:sym typeface="Montserrat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p19"/>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Mission example - 2</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112" name="Google Shape;112;p19"/>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113" name="Google Shape;113;p19"/>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114" name="Google Shape;114;p19"/>
          <p:cNvSpPr txBox="1"/>
          <p:nvPr/>
        </p:nvSpPr>
        <p:spPr>
          <a:xfrm>
            <a:off x="1357050" y="1249325"/>
            <a:ext cx="7400400" cy="3631733"/>
          </a:xfrm>
          <a:prstGeom prst="rect">
            <a:avLst/>
          </a:prstGeom>
          <a:noFill/>
          <a:ln>
            <a:noFill/>
          </a:ln>
        </p:spPr>
        <p:txBody>
          <a:bodyPr spcFirstLastPara="1" wrap="square" lIns="91425" tIns="91425" rIns="91425" bIns="91425" anchor="t" anchorCtr="0">
            <a:spAutoFit/>
          </a:bodyPr>
          <a:lstStyle/>
          <a:p>
            <a:r>
              <a:rPr lang="en-US" dirty="0">
                <a:latin typeface="Montserrat Light" panose="00000400000000000000" pitchFamily="2" charset="0"/>
              </a:rPr>
              <a:t>Example telemetry data per packet:</a:t>
            </a:r>
          </a:p>
          <a:p>
            <a:endParaRPr lang="it-IT" dirty="0">
              <a:latin typeface="Montserrat Light" panose="00000400000000000000" pitchFamily="2" charset="0"/>
            </a:endParaRPr>
          </a:p>
          <a:p>
            <a:pPr marL="285750" indent="-285750">
              <a:buFont typeface="Arial" panose="020B0604020202020204" pitchFamily="34" charset="0"/>
              <a:buChar char="•"/>
            </a:pPr>
            <a:r>
              <a:rPr lang="it-IT" dirty="0">
                <a:latin typeface="Montserrat Light" panose="00000400000000000000" pitchFamily="2" charset="0"/>
              </a:rPr>
              <a:t>Position (X,Y,Z): 24 bytes</a:t>
            </a:r>
          </a:p>
          <a:p>
            <a:pPr marL="285750" indent="-285750">
              <a:buFont typeface="Arial" panose="020B0604020202020204" pitchFamily="34" charset="0"/>
              <a:buChar char="•"/>
            </a:pPr>
            <a:r>
              <a:rPr lang="it-IT" dirty="0" err="1">
                <a:latin typeface="Montserrat Light" panose="00000400000000000000" pitchFamily="2" charset="0"/>
              </a:rPr>
              <a:t>Attitude</a:t>
            </a:r>
            <a:r>
              <a:rPr lang="it-IT" dirty="0">
                <a:latin typeface="Montserrat Light" panose="00000400000000000000" pitchFamily="2" charset="0"/>
              </a:rPr>
              <a:t> (X,Y,Z): 24 bytes</a:t>
            </a:r>
          </a:p>
          <a:p>
            <a:pPr marL="285750" indent="-285750">
              <a:buFont typeface="Arial" panose="020B0604020202020204" pitchFamily="34" charset="0"/>
              <a:buChar char="•"/>
            </a:pPr>
            <a:r>
              <a:rPr lang="it-IT" dirty="0">
                <a:latin typeface="Montserrat Light" panose="00000400000000000000" pitchFamily="2" charset="0"/>
              </a:rPr>
              <a:t>10 temperature </a:t>
            </a:r>
            <a:r>
              <a:rPr lang="it-IT" dirty="0" err="1">
                <a:latin typeface="Montserrat Light" panose="00000400000000000000" pitchFamily="2" charset="0"/>
              </a:rPr>
              <a:t>sensors</a:t>
            </a:r>
            <a:r>
              <a:rPr lang="it-IT" dirty="0">
                <a:latin typeface="Montserrat Light" panose="00000400000000000000" pitchFamily="2" charset="0"/>
              </a:rPr>
              <a:t>: 10 bytes</a:t>
            </a:r>
          </a:p>
          <a:p>
            <a:pPr marL="285750" indent="-285750">
              <a:buFont typeface="Arial" panose="020B0604020202020204" pitchFamily="34" charset="0"/>
              <a:buChar char="•"/>
            </a:pPr>
            <a:r>
              <a:rPr lang="it-IT" dirty="0">
                <a:latin typeface="Montserrat Light" panose="00000400000000000000" pitchFamily="2" charset="0"/>
              </a:rPr>
              <a:t>10 </a:t>
            </a:r>
            <a:r>
              <a:rPr lang="it-IT" dirty="0" err="1">
                <a:latin typeface="Montserrat Light" panose="00000400000000000000" pitchFamily="2" charset="0"/>
              </a:rPr>
              <a:t>voltage</a:t>
            </a:r>
            <a:r>
              <a:rPr lang="it-IT" dirty="0">
                <a:latin typeface="Montserrat Light" panose="00000400000000000000" pitchFamily="2" charset="0"/>
              </a:rPr>
              <a:t> </a:t>
            </a:r>
            <a:r>
              <a:rPr lang="it-IT" dirty="0" err="1">
                <a:latin typeface="Montserrat Light" panose="00000400000000000000" pitchFamily="2" charset="0"/>
              </a:rPr>
              <a:t>sensors</a:t>
            </a:r>
            <a:r>
              <a:rPr lang="it-IT" dirty="0">
                <a:latin typeface="Montserrat Light" panose="00000400000000000000" pitchFamily="2" charset="0"/>
              </a:rPr>
              <a:t>: 10 bytes</a:t>
            </a:r>
          </a:p>
          <a:p>
            <a:pPr marL="285750" indent="-285750">
              <a:buFont typeface="Arial" panose="020B0604020202020204" pitchFamily="34" charset="0"/>
              <a:buChar char="•"/>
            </a:pPr>
            <a:r>
              <a:rPr lang="it-IT" dirty="0">
                <a:latin typeface="Montserrat Light" panose="00000400000000000000" pitchFamily="2" charset="0"/>
              </a:rPr>
              <a:t>10 </a:t>
            </a:r>
            <a:r>
              <a:rPr lang="it-IT" dirty="0" err="1">
                <a:latin typeface="Montserrat Light" panose="00000400000000000000" pitchFamily="2" charset="0"/>
              </a:rPr>
              <a:t>current</a:t>
            </a:r>
            <a:r>
              <a:rPr lang="it-IT" dirty="0">
                <a:latin typeface="Montserrat Light" panose="00000400000000000000" pitchFamily="2" charset="0"/>
              </a:rPr>
              <a:t> </a:t>
            </a:r>
            <a:r>
              <a:rPr lang="it-IT" dirty="0" err="1">
                <a:latin typeface="Montserrat Light" panose="00000400000000000000" pitchFamily="2" charset="0"/>
              </a:rPr>
              <a:t>sensors</a:t>
            </a:r>
            <a:r>
              <a:rPr lang="it-IT" dirty="0">
                <a:latin typeface="Montserrat Light" panose="00000400000000000000" pitchFamily="2" charset="0"/>
              </a:rPr>
              <a:t>: 10 bytes</a:t>
            </a:r>
          </a:p>
          <a:p>
            <a:pPr marL="285750" indent="-285750">
              <a:buFont typeface="Arial" panose="020B0604020202020204" pitchFamily="34" charset="0"/>
              <a:buChar char="•"/>
            </a:pPr>
            <a:r>
              <a:rPr lang="it-IT" dirty="0">
                <a:latin typeface="Montserrat Light" panose="00000400000000000000" pitchFamily="2" charset="0"/>
              </a:rPr>
              <a:t>64 </a:t>
            </a:r>
            <a:r>
              <a:rPr lang="it-IT" dirty="0" err="1">
                <a:latin typeface="Montserrat Light" panose="00000400000000000000" pitchFamily="2" charset="0"/>
              </a:rPr>
              <a:t>digital</a:t>
            </a:r>
            <a:r>
              <a:rPr lang="it-IT" dirty="0">
                <a:latin typeface="Montserrat Light" panose="00000400000000000000" pitchFamily="2" charset="0"/>
              </a:rPr>
              <a:t> status </a:t>
            </a:r>
            <a:r>
              <a:rPr lang="it-IT" dirty="0" err="1">
                <a:latin typeface="Montserrat Light" panose="00000400000000000000" pitchFamily="2" charset="0"/>
              </a:rPr>
              <a:t>variables</a:t>
            </a:r>
            <a:r>
              <a:rPr lang="it-IT" dirty="0">
                <a:latin typeface="Montserrat Light" panose="00000400000000000000" pitchFamily="2" charset="0"/>
              </a:rPr>
              <a:t>: 8 bytes</a:t>
            </a:r>
          </a:p>
          <a:p>
            <a:pPr marL="285750" indent="-285750">
              <a:buFont typeface="Arial" panose="020B0604020202020204" pitchFamily="34" charset="0"/>
              <a:buChar char="•"/>
            </a:pPr>
            <a:r>
              <a:rPr lang="it-IT" dirty="0">
                <a:latin typeface="Montserrat Light" panose="00000400000000000000" pitchFamily="2" charset="0"/>
              </a:rPr>
              <a:t>20 </a:t>
            </a:r>
            <a:r>
              <a:rPr lang="it-IT" dirty="0" err="1">
                <a:latin typeface="Montserrat Light" panose="00000400000000000000" pitchFamily="2" charset="0"/>
              </a:rPr>
              <a:t>additional</a:t>
            </a:r>
            <a:r>
              <a:rPr lang="it-IT" dirty="0">
                <a:latin typeface="Montserrat Light" panose="00000400000000000000" pitchFamily="2" charset="0"/>
              </a:rPr>
              <a:t> </a:t>
            </a:r>
            <a:r>
              <a:rPr lang="it-IT" dirty="0" err="1">
                <a:latin typeface="Montserrat Light" panose="00000400000000000000" pitchFamily="2" charset="0"/>
              </a:rPr>
              <a:t>parameters</a:t>
            </a:r>
            <a:r>
              <a:rPr lang="it-IT" dirty="0">
                <a:latin typeface="Montserrat Light" panose="00000400000000000000" pitchFamily="2" charset="0"/>
              </a:rPr>
              <a:t>: 80 bytes</a:t>
            </a:r>
          </a:p>
          <a:p>
            <a:endParaRPr lang="it-IT" dirty="0">
              <a:latin typeface="Montserrat Light" panose="00000400000000000000" pitchFamily="2" charset="0"/>
            </a:endParaRPr>
          </a:p>
          <a:p>
            <a:r>
              <a:rPr lang="it-IT" dirty="0">
                <a:latin typeface="Montserrat Light" panose="00000400000000000000" pitchFamily="2" charset="0"/>
              </a:rPr>
              <a:t>Total per </a:t>
            </a:r>
            <a:r>
              <a:rPr lang="it-IT" dirty="0" err="1">
                <a:latin typeface="Montserrat Light" panose="00000400000000000000" pitchFamily="2" charset="0"/>
              </a:rPr>
              <a:t>packet</a:t>
            </a:r>
            <a:r>
              <a:rPr lang="it-IT" dirty="0">
                <a:latin typeface="Montserrat Light" panose="00000400000000000000" pitchFamily="2" charset="0"/>
              </a:rPr>
              <a:t>: 166 bytes</a:t>
            </a:r>
          </a:p>
          <a:p>
            <a:endParaRPr lang="it-IT" dirty="0">
              <a:latin typeface="Montserrat Light" panose="00000400000000000000" pitchFamily="2" charset="0"/>
            </a:endParaRPr>
          </a:p>
          <a:p>
            <a:r>
              <a:rPr lang="it-IT" dirty="0">
                <a:latin typeface="Montserrat Light" panose="00000400000000000000" pitchFamily="2" charset="0"/>
              </a:rPr>
              <a:t>Sampling </a:t>
            </a:r>
            <a:r>
              <a:rPr lang="it-IT" dirty="0" err="1">
                <a:latin typeface="Montserrat Light" panose="00000400000000000000" pitchFamily="2" charset="0"/>
              </a:rPr>
              <a:t>every</a:t>
            </a:r>
            <a:r>
              <a:rPr lang="it-IT" dirty="0">
                <a:latin typeface="Montserrat Light" panose="00000400000000000000" pitchFamily="2" charset="0"/>
              </a:rPr>
              <a:t> 5 seconds </a:t>
            </a:r>
            <a:r>
              <a:rPr lang="it-IT" dirty="0" err="1">
                <a:latin typeface="Montserrat Light" panose="00000400000000000000" pitchFamily="2" charset="0"/>
              </a:rPr>
              <a:t>results</a:t>
            </a:r>
            <a:r>
              <a:rPr lang="it-IT" dirty="0">
                <a:latin typeface="Montserrat Light" panose="00000400000000000000" pitchFamily="2" charset="0"/>
              </a:rPr>
              <a:t> in </a:t>
            </a:r>
            <a:r>
              <a:rPr lang="it-IT" dirty="0" err="1">
                <a:latin typeface="Montserrat Light" panose="00000400000000000000" pitchFamily="2" charset="0"/>
              </a:rPr>
              <a:t>approximately</a:t>
            </a:r>
            <a:r>
              <a:rPr lang="it-IT" dirty="0">
                <a:latin typeface="Montserrat Light" panose="00000400000000000000" pitchFamily="2" charset="0"/>
              </a:rPr>
              <a:t>:</a:t>
            </a:r>
          </a:p>
          <a:p>
            <a:r>
              <a:rPr lang="it-IT" dirty="0">
                <a:latin typeface="Montserrat Light" panose="00000400000000000000" pitchFamily="2" charset="0"/>
              </a:rPr>
              <a:t>≈ </a:t>
            </a:r>
            <a:r>
              <a:rPr lang="it-IT" b="1" dirty="0">
                <a:solidFill>
                  <a:srgbClr val="FFC000"/>
                </a:solidFill>
                <a:latin typeface="Montserrat" pitchFamily="2" charset="0"/>
              </a:rPr>
              <a:t>2.8 MB </a:t>
            </a:r>
            <a:r>
              <a:rPr lang="it-IT" dirty="0">
                <a:latin typeface="Montserrat Light" panose="00000400000000000000" pitchFamily="2" charset="0"/>
              </a:rPr>
              <a:t>per day</a:t>
            </a:r>
          </a:p>
          <a:p>
            <a:endParaRPr lang="it-IT" dirty="0">
              <a:latin typeface="Montserrat Light" panose="00000400000000000000" pitchFamily="2" charset="0"/>
            </a:endParaRPr>
          </a:p>
          <a:p>
            <a:r>
              <a:rPr lang="it-IT" dirty="0" err="1">
                <a:latin typeface="Montserrat Light" panose="00000400000000000000" pitchFamily="2" charset="0"/>
              </a:rPr>
              <a:t>Telemetry</a:t>
            </a:r>
            <a:r>
              <a:rPr lang="it-IT" dirty="0">
                <a:latin typeface="Montserrat Light" panose="00000400000000000000" pitchFamily="2" charset="0"/>
              </a:rPr>
              <a:t> </a:t>
            </a:r>
            <a:r>
              <a:rPr lang="it-IT" dirty="0" err="1">
                <a:latin typeface="Montserrat Light" panose="00000400000000000000" pitchFamily="2" charset="0"/>
              </a:rPr>
              <a:t>is</a:t>
            </a:r>
            <a:r>
              <a:rPr lang="it-IT" dirty="0">
                <a:latin typeface="Montserrat Light" panose="00000400000000000000" pitchFamily="2" charset="0"/>
              </a:rPr>
              <a:t> </a:t>
            </a:r>
            <a:r>
              <a:rPr lang="it-IT" dirty="0" err="1">
                <a:latin typeface="Montserrat Light" panose="00000400000000000000" pitchFamily="2" charset="0"/>
              </a:rPr>
              <a:t>relatively</a:t>
            </a:r>
            <a:r>
              <a:rPr lang="it-IT" dirty="0">
                <a:latin typeface="Montserrat Light" panose="00000400000000000000" pitchFamily="2" charset="0"/>
              </a:rPr>
              <a:t> small </a:t>
            </a:r>
            <a:r>
              <a:rPr lang="it-IT" dirty="0" err="1">
                <a:latin typeface="Montserrat Light" panose="00000400000000000000" pitchFamily="2" charset="0"/>
              </a:rPr>
              <a:t>compared</a:t>
            </a:r>
            <a:r>
              <a:rPr lang="it-IT" dirty="0">
                <a:latin typeface="Montserrat Light" panose="00000400000000000000" pitchFamily="2" charset="0"/>
              </a:rPr>
              <a:t> to payload.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0"/>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 name="Google Shape;120;p20"/>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Mission example - 3</a:t>
            </a:r>
            <a:endParaRPr sz="3600">
              <a:solidFill>
                <a:schemeClr val="dk2"/>
              </a:solidFill>
              <a:latin typeface="Montserrat"/>
              <a:ea typeface="Montserrat"/>
              <a:cs typeface="Montserrat"/>
              <a:sym typeface="Montserrat"/>
            </a:endParaRPr>
          </a:p>
        </p:txBody>
      </p:sp>
      <p:pic>
        <p:nvPicPr>
          <p:cNvPr id="121" name="Google Shape;121;p20"/>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122" name="Google Shape;122;p20"/>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123" name="Google Shape;123;p20"/>
          <p:cNvSpPr txBox="1"/>
          <p:nvPr/>
        </p:nvSpPr>
        <p:spPr>
          <a:xfrm>
            <a:off x="1405125" y="1428025"/>
            <a:ext cx="7400400" cy="2554515"/>
          </a:xfrm>
          <a:prstGeom prst="rect">
            <a:avLst/>
          </a:prstGeom>
          <a:noFill/>
          <a:ln>
            <a:noFill/>
          </a:ln>
        </p:spPr>
        <p:txBody>
          <a:bodyPr spcFirstLastPara="1" wrap="square" lIns="91425" tIns="91425" rIns="91425" bIns="91425" anchor="t" anchorCtr="0">
            <a:spAutoFit/>
          </a:bodyPr>
          <a:lstStyle/>
          <a:p>
            <a:r>
              <a:rPr lang="it-IT" dirty="0">
                <a:latin typeface="Montserrat Light" panose="00000400000000000000" pitchFamily="2" charset="0"/>
              </a:rPr>
              <a:t>A 4 MP image </a:t>
            </a:r>
            <a:r>
              <a:rPr lang="it-IT" dirty="0" err="1">
                <a:latin typeface="Montserrat Light" panose="00000400000000000000" pitchFamily="2" charset="0"/>
              </a:rPr>
              <a:t>produces</a:t>
            </a:r>
            <a:r>
              <a:rPr lang="it-IT" dirty="0">
                <a:latin typeface="Montserrat Light" panose="00000400000000000000" pitchFamily="2" charset="0"/>
              </a:rPr>
              <a:t>:</a:t>
            </a:r>
          </a:p>
          <a:p>
            <a:endParaRPr lang="it-IT" dirty="0">
              <a:latin typeface="Montserrat Light" panose="00000400000000000000" pitchFamily="2" charset="0"/>
            </a:endParaRPr>
          </a:p>
          <a:p>
            <a:r>
              <a:rPr lang="it-IT" dirty="0">
                <a:latin typeface="Montserrat Light" panose="00000400000000000000" pitchFamily="2" charset="0"/>
              </a:rPr>
              <a:t>4 </a:t>
            </a:r>
            <a:r>
              <a:rPr lang="it-IT" dirty="0" err="1">
                <a:latin typeface="Montserrat Light" panose="00000400000000000000" pitchFamily="2" charset="0"/>
              </a:rPr>
              <a:t>million</a:t>
            </a:r>
            <a:r>
              <a:rPr lang="it-IT" dirty="0">
                <a:latin typeface="Montserrat Light" panose="00000400000000000000" pitchFamily="2" charset="0"/>
              </a:rPr>
              <a:t> pixels × 3 bytes/pixel ≈ 12 MB per image</a:t>
            </a:r>
          </a:p>
          <a:p>
            <a:endParaRPr lang="it-IT" dirty="0">
              <a:latin typeface="Montserrat Light" panose="00000400000000000000" pitchFamily="2" charset="0"/>
            </a:endParaRPr>
          </a:p>
          <a:p>
            <a:r>
              <a:rPr lang="it-IT" dirty="0">
                <a:latin typeface="Montserrat Light" panose="00000400000000000000" pitchFamily="2" charset="0"/>
              </a:rPr>
              <a:t>With lossless </a:t>
            </a:r>
            <a:r>
              <a:rPr lang="it-IT" dirty="0" err="1">
                <a:latin typeface="Montserrat Light" panose="00000400000000000000" pitchFamily="2" charset="0"/>
              </a:rPr>
              <a:t>compression</a:t>
            </a:r>
            <a:r>
              <a:rPr lang="it-IT" dirty="0">
                <a:latin typeface="Montserrat Light" panose="00000400000000000000" pitchFamily="2" charset="0"/>
              </a:rPr>
              <a:t> (2:1):</a:t>
            </a:r>
          </a:p>
          <a:p>
            <a:r>
              <a:rPr lang="it-IT" dirty="0">
                <a:latin typeface="Montserrat Light" panose="00000400000000000000" pitchFamily="2" charset="0"/>
              </a:rPr>
              <a:t>≈ 6 MB per image</a:t>
            </a:r>
          </a:p>
          <a:p>
            <a:endParaRPr lang="it-IT" dirty="0">
              <a:latin typeface="Montserrat Light" panose="00000400000000000000" pitchFamily="2" charset="0"/>
            </a:endParaRPr>
          </a:p>
          <a:p>
            <a:r>
              <a:rPr lang="it-IT" dirty="0">
                <a:latin typeface="Montserrat Light" panose="00000400000000000000" pitchFamily="2" charset="0"/>
              </a:rPr>
              <a:t>150 images/day:</a:t>
            </a:r>
          </a:p>
          <a:p>
            <a:r>
              <a:rPr lang="it-IT" dirty="0">
                <a:latin typeface="Montserrat Light" panose="00000400000000000000" pitchFamily="2" charset="0"/>
              </a:rPr>
              <a:t>≈ </a:t>
            </a:r>
            <a:r>
              <a:rPr lang="it-IT" b="1" dirty="0">
                <a:solidFill>
                  <a:srgbClr val="FFC000"/>
                </a:solidFill>
                <a:latin typeface="Montserrat" pitchFamily="2" charset="0"/>
              </a:rPr>
              <a:t>900 MB </a:t>
            </a:r>
            <a:r>
              <a:rPr lang="it-IT" dirty="0">
                <a:latin typeface="Montserrat Light" panose="00000400000000000000" pitchFamily="2" charset="0"/>
              </a:rPr>
              <a:t>per day</a:t>
            </a:r>
          </a:p>
          <a:p>
            <a:endParaRPr lang="it-IT" dirty="0">
              <a:latin typeface="Montserrat Light" panose="00000400000000000000" pitchFamily="2" charset="0"/>
            </a:endParaRPr>
          </a:p>
          <a:p>
            <a:r>
              <a:rPr lang="it-IT" dirty="0">
                <a:latin typeface="Montserrat Light" panose="00000400000000000000" pitchFamily="2" charset="0"/>
              </a:rPr>
              <a:t>Payload data </a:t>
            </a:r>
            <a:r>
              <a:rPr lang="it-IT" dirty="0" err="1">
                <a:latin typeface="Montserrat Light" panose="00000400000000000000" pitchFamily="2" charset="0"/>
              </a:rPr>
              <a:t>is</a:t>
            </a:r>
            <a:r>
              <a:rPr lang="it-IT" dirty="0">
                <a:latin typeface="Montserrat Light" panose="00000400000000000000" pitchFamily="2" charset="0"/>
              </a:rPr>
              <a:t> </a:t>
            </a:r>
            <a:r>
              <a:rPr lang="it-IT" dirty="0" err="1">
                <a:latin typeface="Montserrat Light" panose="00000400000000000000" pitchFamily="2" charset="0"/>
              </a:rPr>
              <a:t>three</a:t>
            </a:r>
            <a:r>
              <a:rPr lang="it-IT" dirty="0">
                <a:latin typeface="Montserrat Light" panose="00000400000000000000" pitchFamily="2" charset="0"/>
              </a:rPr>
              <a:t> </a:t>
            </a:r>
            <a:r>
              <a:rPr lang="it-IT" dirty="0" err="1">
                <a:latin typeface="Montserrat Light" panose="00000400000000000000" pitchFamily="2" charset="0"/>
              </a:rPr>
              <a:t>orders</a:t>
            </a:r>
            <a:r>
              <a:rPr lang="it-IT" dirty="0">
                <a:latin typeface="Montserrat Light" panose="00000400000000000000" pitchFamily="2" charset="0"/>
              </a:rPr>
              <a:t> of </a:t>
            </a:r>
            <a:r>
              <a:rPr lang="it-IT" dirty="0" err="1">
                <a:latin typeface="Montserrat Light" panose="00000400000000000000" pitchFamily="2" charset="0"/>
              </a:rPr>
              <a:t>magnitude</a:t>
            </a:r>
            <a:r>
              <a:rPr lang="it-IT" dirty="0">
                <a:latin typeface="Montserrat Light" panose="00000400000000000000" pitchFamily="2" charset="0"/>
              </a:rPr>
              <a:t> </a:t>
            </a:r>
            <a:r>
              <a:rPr lang="it-IT" dirty="0" err="1">
                <a:latin typeface="Montserrat Light" panose="00000400000000000000" pitchFamily="2" charset="0"/>
              </a:rPr>
              <a:t>larger</a:t>
            </a:r>
            <a:r>
              <a:rPr lang="it-IT" dirty="0">
                <a:latin typeface="Montserrat Light" panose="00000400000000000000" pitchFamily="2" charset="0"/>
              </a:rPr>
              <a:t> </a:t>
            </a:r>
            <a:r>
              <a:rPr lang="it-IT" dirty="0" err="1">
                <a:latin typeface="Montserrat Light" panose="00000400000000000000" pitchFamily="2" charset="0"/>
              </a:rPr>
              <a:t>than</a:t>
            </a:r>
            <a:r>
              <a:rPr lang="it-IT" dirty="0">
                <a:latin typeface="Montserrat Light" panose="00000400000000000000" pitchFamily="2" charset="0"/>
              </a:rPr>
              <a:t> </a:t>
            </a:r>
            <a:r>
              <a:rPr lang="it-IT" dirty="0" err="1">
                <a:latin typeface="Montserrat Light" panose="00000400000000000000" pitchFamily="2" charset="0"/>
              </a:rPr>
              <a:t>telemetry</a:t>
            </a:r>
            <a:r>
              <a:rPr lang="it-IT" dirty="0">
                <a:latin typeface="Montserrat Light" panose="00000400000000000000" pitchFamily="2"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p:nvPr/>
        </p:nvSpPr>
        <p:spPr>
          <a:xfrm>
            <a:off x="1275500" y="2918075"/>
            <a:ext cx="7400400" cy="833700"/>
          </a:xfrm>
          <a:prstGeom prst="rect">
            <a:avLst/>
          </a:prstGeom>
          <a:solidFill>
            <a:srgbClr val="B45F0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endParaRPr>
          </a:p>
        </p:txBody>
      </p:sp>
      <p:sp>
        <p:nvSpPr>
          <p:cNvPr id="129" name="Google Shape;129;p21"/>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 name="Google Shape;130;p21"/>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Mission example - 4</a:t>
            </a:r>
            <a:endParaRPr sz="3600">
              <a:solidFill>
                <a:schemeClr val="dk2"/>
              </a:solidFill>
              <a:latin typeface="Montserrat"/>
              <a:ea typeface="Montserrat"/>
              <a:cs typeface="Montserrat"/>
              <a:sym typeface="Montserrat"/>
            </a:endParaRPr>
          </a:p>
        </p:txBody>
      </p:sp>
      <p:pic>
        <p:nvPicPr>
          <p:cNvPr id="131" name="Google Shape;131;p21"/>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132" name="Google Shape;132;p21"/>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133" name="Google Shape;133;p21"/>
          <p:cNvSpPr txBox="1"/>
          <p:nvPr/>
        </p:nvSpPr>
        <p:spPr>
          <a:xfrm>
            <a:off x="1304550" y="1358913"/>
            <a:ext cx="7400400" cy="2765599"/>
          </a:xfrm>
          <a:prstGeom prst="rect">
            <a:avLst/>
          </a:prstGeom>
          <a:noFill/>
          <a:ln>
            <a:noFill/>
          </a:ln>
        </p:spPr>
        <p:txBody>
          <a:bodyPr spcFirstLastPara="1" wrap="square" lIns="91425" tIns="91425" rIns="91425" bIns="91425" anchor="t" anchorCtr="0">
            <a:spAutoFit/>
          </a:bodyPr>
          <a:lstStyle/>
          <a:p>
            <a:r>
              <a:rPr lang="en-US" sz="1600" dirty="0">
                <a:latin typeface="Montserrat Light" panose="00000400000000000000" pitchFamily="2" charset="0"/>
              </a:rPr>
              <a:t>Daily data:</a:t>
            </a:r>
          </a:p>
          <a:p>
            <a:r>
              <a:rPr lang="en-US" sz="1600" dirty="0">
                <a:latin typeface="Montserrat Light" panose="00000400000000000000" pitchFamily="2" charset="0"/>
              </a:rPr>
              <a:t>Telemetry: 2.8 MB</a:t>
            </a:r>
            <a:br>
              <a:rPr lang="en-US" sz="1600" dirty="0">
                <a:latin typeface="Montserrat Light" panose="00000400000000000000" pitchFamily="2" charset="0"/>
              </a:rPr>
            </a:br>
            <a:r>
              <a:rPr lang="en-US" sz="1600" dirty="0">
                <a:latin typeface="Montserrat Light" panose="00000400000000000000" pitchFamily="2" charset="0"/>
              </a:rPr>
              <a:t>Payload: 900 MB</a:t>
            </a:r>
          </a:p>
          <a:p>
            <a:endParaRPr lang="en-US" sz="1600" dirty="0">
              <a:latin typeface="Montserrat Light" panose="00000400000000000000" pitchFamily="2" charset="0"/>
            </a:endParaRPr>
          </a:p>
          <a:p>
            <a:r>
              <a:rPr lang="en-US" sz="1600" dirty="0">
                <a:latin typeface="Montserrat Light" panose="00000400000000000000" pitchFamily="2" charset="0"/>
              </a:rPr>
              <a:t>Telemetry represents only </a:t>
            </a:r>
            <a:r>
              <a:rPr lang="en-US" sz="1600" b="1" dirty="0">
                <a:solidFill>
                  <a:srgbClr val="FFC000"/>
                </a:solidFill>
                <a:latin typeface="Montserrat" pitchFamily="2" charset="0"/>
              </a:rPr>
              <a:t>0.32%</a:t>
            </a:r>
            <a:r>
              <a:rPr lang="en-US" sz="1600" dirty="0">
                <a:latin typeface="Montserrat Light" panose="00000400000000000000" pitchFamily="2" charset="0"/>
              </a:rPr>
              <a:t> of total data.</a:t>
            </a:r>
          </a:p>
          <a:p>
            <a:pPr marL="0" marR="38100" lvl="0" indent="0" algn="l" rtl="0">
              <a:lnSpc>
                <a:spcPct val="128571"/>
              </a:lnSpc>
              <a:spcBef>
                <a:spcPts val="0"/>
              </a:spcBef>
              <a:spcAft>
                <a:spcPts val="0"/>
              </a:spcAft>
              <a:buNone/>
            </a:pPr>
            <a:endParaRPr sz="1700" dirty="0">
              <a:solidFill>
                <a:schemeClr val="dk2"/>
              </a:solidFill>
              <a:latin typeface="Montserrat Light"/>
              <a:ea typeface="Montserrat Light"/>
              <a:cs typeface="Montserrat Light"/>
              <a:sym typeface="Montserrat Light"/>
            </a:endParaRPr>
          </a:p>
          <a:p>
            <a:pPr marL="0" marR="38100" lvl="0" indent="0" algn="l" rtl="0">
              <a:lnSpc>
                <a:spcPct val="128571"/>
              </a:lnSpc>
              <a:spcBef>
                <a:spcPts val="0"/>
              </a:spcBef>
              <a:spcAft>
                <a:spcPts val="0"/>
              </a:spcAft>
              <a:buNone/>
            </a:pPr>
            <a:r>
              <a:rPr lang="it" sz="1700" dirty="0">
                <a:solidFill>
                  <a:schemeClr val="dk1"/>
                </a:solidFill>
                <a:latin typeface="Montserrat Light"/>
                <a:ea typeface="Montserrat Light"/>
                <a:cs typeface="Montserrat Light"/>
                <a:sym typeface="Montserrat Light"/>
              </a:rPr>
              <a:t>This example tells us that, almost every time, the design driver of the telecommunication system is the payload.</a:t>
            </a:r>
            <a:endParaRPr sz="1700" dirty="0">
              <a:solidFill>
                <a:schemeClr val="dk1"/>
              </a:solidFill>
              <a:latin typeface="Montserrat Light"/>
              <a:ea typeface="Montserrat Light"/>
              <a:cs typeface="Montserrat Light"/>
              <a:sym typeface="Montserrat Light"/>
            </a:endParaRPr>
          </a:p>
          <a:p>
            <a:pPr marL="0" marR="38100" lvl="0" indent="0" algn="l" rtl="0">
              <a:lnSpc>
                <a:spcPct val="128571"/>
              </a:lnSpc>
              <a:spcBef>
                <a:spcPts val="0"/>
              </a:spcBef>
              <a:spcAft>
                <a:spcPts val="0"/>
              </a:spcAft>
              <a:buNone/>
            </a:pPr>
            <a:endParaRPr sz="1700" dirty="0">
              <a:solidFill>
                <a:schemeClr val="dk1"/>
              </a:solidFill>
              <a:latin typeface="Montserrat Light"/>
              <a:ea typeface="Montserrat Light"/>
              <a:cs typeface="Montserrat Light"/>
              <a:sym typeface="Montserrat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 name="Google Shape;139;p22"/>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dirty="0">
                <a:solidFill>
                  <a:schemeClr val="dk2"/>
                </a:solidFill>
                <a:latin typeface="Montserrat"/>
                <a:ea typeface="Montserrat"/>
                <a:cs typeface="Montserrat"/>
                <a:sym typeface="Montserrat"/>
              </a:rPr>
              <a:t>Telecommunication System Design</a:t>
            </a:r>
            <a:endParaRPr sz="3600" dirty="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dirty="0">
              <a:solidFill>
                <a:schemeClr val="dk2"/>
              </a:solidFill>
              <a:latin typeface="Montserrat"/>
              <a:ea typeface="Montserrat"/>
              <a:cs typeface="Montserrat"/>
              <a:sym typeface="Montserrat"/>
            </a:endParaRPr>
          </a:p>
        </p:txBody>
      </p:sp>
      <p:pic>
        <p:nvPicPr>
          <p:cNvPr id="140" name="Google Shape;140;p22"/>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141" name="Google Shape;141;p22"/>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142" name="Google Shape;142;p22"/>
          <p:cNvSpPr txBox="1"/>
          <p:nvPr/>
        </p:nvSpPr>
        <p:spPr>
          <a:xfrm>
            <a:off x="1383860" y="1821594"/>
            <a:ext cx="7400400" cy="2964499"/>
          </a:xfrm>
          <a:prstGeom prst="rect">
            <a:avLst/>
          </a:prstGeom>
          <a:noFill/>
          <a:ln>
            <a:noFill/>
          </a:ln>
        </p:spPr>
        <p:txBody>
          <a:bodyPr spcFirstLastPara="1" wrap="square" lIns="91425" tIns="91425" rIns="91425" bIns="91425" anchor="t" anchorCtr="0">
            <a:spAutoFit/>
          </a:bodyPr>
          <a:lstStyle/>
          <a:p>
            <a:r>
              <a:rPr lang="en-US" sz="1600" dirty="0">
                <a:latin typeface="Montserrat Light" panose="00000400000000000000" pitchFamily="2" charset="0"/>
              </a:rPr>
              <a:t>Designing a satellite communication system requires:</a:t>
            </a:r>
          </a:p>
          <a:p>
            <a:endParaRPr lang="en-US" sz="1600" dirty="0">
              <a:latin typeface="Montserrat Light" panose="00000400000000000000" pitchFamily="2" charset="0"/>
            </a:endParaRPr>
          </a:p>
          <a:p>
            <a:pPr marL="285750" indent="-285750">
              <a:buFont typeface="Arial" panose="020B0604020202020204" pitchFamily="34" charset="0"/>
              <a:buChar char="•"/>
            </a:pPr>
            <a:r>
              <a:rPr lang="en-US" sz="1600" dirty="0">
                <a:latin typeface="Montserrat Light" panose="00000400000000000000" pitchFamily="2" charset="0"/>
              </a:rPr>
              <a:t>Definition of mission requirements</a:t>
            </a:r>
          </a:p>
          <a:p>
            <a:pPr marL="285750" indent="-285750">
              <a:buFont typeface="Arial" panose="020B0604020202020204" pitchFamily="34" charset="0"/>
              <a:buChar char="•"/>
            </a:pPr>
            <a:r>
              <a:rPr lang="en-US" sz="1600" dirty="0">
                <a:latin typeface="Montserrat Light" panose="00000400000000000000" pitchFamily="2" charset="0"/>
              </a:rPr>
              <a:t>Architecture definition (number and type of ground stations)</a:t>
            </a:r>
          </a:p>
          <a:p>
            <a:pPr marL="285750" indent="-285750">
              <a:buFont typeface="Arial" panose="020B0604020202020204" pitchFamily="34" charset="0"/>
              <a:buChar char="•"/>
            </a:pPr>
            <a:r>
              <a:rPr lang="en-US" sz="1600" dirty="0">
                <a:latin typeface="Montserrat Light" panose="00000400000000000000" pitchFamily="2" charset="0"/>
              </a:rPr>
              <a:t>Required data rate (</a:t>
            </a:r>
            <a:r>
              <a:rPr lang="en-US" sz="1600" b="1" dirty="0">
                <a:solidFill>
                  <a:srgbClr val="FFC000"/>
                </a:solidFill>
                <a:latin typeface="Montserrat" pitchFamily="2" charset="0"/>
              </a:rPr>
              <a:t>bps</a:t>
            </a:r>
            <a:r>
              <a:rPr lang="en-US" sz="1600" dirty="0">
                <a:latin typeface="Montserrat Light" panose="00000400000000000000" pitchFamily="2" charset="0"/>
              </a:rPr>
              <a:t>)</a:t>
            </a:r>
          </a:p>
          <a:p>
            <a:pPr marL="285750" indent="-285750">
              <a:buFont typeface="Arial" panose="020B0604020202020204" pitchFamily="34" charset="0"/>
              <a:buChar char="•"/>
            </a:pPr>
            <a:r>
              <a:rPr lang="en-US" sz="1600" dirty="0">
                <a:latin typeface="Montserrat Light" panose="00000400000000000000" pitchFamily="2" charset="0"/>
              </a:rPr>
              <a:t>Link budget analysis</a:t>
            </a:r>
          </a:p>
          <a:p>
            <a:pPr marL="285750" indent="-285750">
              <a:buFont typeface="Arial" panose="020B0604020202020204" pitchFamily="34" charset="0"/>
              <a:buChar char="•"/>
            </a:pPr>
            <a:r>
              <a:rPr lang="en-US" sz="1600" dirty="0">
                <a:latin typeface="Montserrat Light" panose="00000400000000000000" pitchFamily="2" charset="0"/>
              </a:rPr>
              <a:t>Component selection</a:t>
            </a:r>
          </a:p>
          <a:p>
            <a:endParaRPr lang="en-US" sz="1600" dirty="0">
              <a:latin typeface="Montserrat Light" panose="00000400000000000000" pitchFamily="2" charset="0"/>
            </a:endParaRPr>
          </a:p>
          <a:p>
            <a:r>
              <a:rPr lang="en-US" sz="1600" dirty="0">
                <a:latin typeface="Montserrat Light" panose="00000400000000000000" pitchFamily="2" charset="0"/>
              </a:rPr>
              <a:t>Every decision is driven by mission constraints and performance targets.</a:t>
            </a:r>
          </a:p>
          <a:p>
            <a:pPr marL="0" marR="38100" lvl="0" indent="0" algn="ctr" rtl="0">
              <a:lnSpc>
                <a:spcPct val="128571"/>
              </a:lnSpc>
              <a:spcBef>
                <a:spcPts val="0"/>
              </a:spcBef>
              <a:spcAft>
                <a:spcPts val="0"/>
              </a:spcAft>
              <a:buNone/>
            </a:pPr>
            <a:endParaRPr sz="1600" dirty="0">
              <a:solidFill>
                <a:schemeClr val="dk2"/>
              </a:solidFill>
              <a:latin typeface="Montserrat Light" panose="00000400000000000000" pitchFamily="2" charset="0"/>
              <a:ea typeface="Montserrat Light"/>
              <a:cs typeface="Montserrat Light"/>
              <a:sym typeface="Montserrat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3"/>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 name="Google Shape;148;p23"/>
          <p:cNvSpPr txBox="1">
            <a:spLocks noGrp="1"/>
          </p:cNvSpPr>
          <p:nvPr>
            <p:ph type="ctrTitle" idx="4294967295"/>
          </p:nvPr>
        </p:nvSpPr>
        <p:spPr>
          <a:xfrm>
            <a:off x="1304550" y="441725"/>
            <a:ext cx="7500900" cy="657300"/>
          </a:xfrm>
          <a:prstGeom prst="rect">
            <a:avLst/>
          </a:prstGeom>
        </p:spPr>
        <p:txBody>
          <a:bodyPr spcFirstLastPara="1" wrap="square" lIns="91425" tIns="91425" rIns="91425" bIns="91425" anchor="t" anchorCtr="0">
            <a:noAutofit/>
          </a:bodyPr>
          <a:lstStyle/>
          <a:p>
            <a:pPr lvl="0"/>
            <a:r>
              <a:rPr lang="it" sz="3600" dirty="0">
                <a:solidFill>
                  <a:schemeClr val="dk2"/>
                </a:solidFill>
                <a:latin typeface="Montserrat"/>
                <a:ea typeface="Montserrat"/>
                <a:cs typeface="Montserrat"/>
                <a:sym typeface="Montserrat"/>
              </a:rPr>
              <a:t>Telecommunication Design Requirements</a:t>
            </a:r>
            <a:endParaRPr sz="3600" dirty="0">
              <a:solidFill>
                <a:schemeClr val="dk2"/>
              </a:solidFill>
              <a:latin typeface="Montserrat"/>
              <a:ea typeface="Montserrat"/>
              <a:cs typeface="Montserrat"/>
              <a:sym typeface="Montserrat"/>
            </a:endParaRPr>
          </a:p>
        </p:txBody>
      </p:sp>
      <p:pic>
        <p:nvPicPr>
          <p:cNvPr id="149" name="Google Shape;149;p23"/>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150" name="Google Shape;150;p23"/>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151" name="Google Shape;151;p23"/>
          <p:cNvSpPr txBox="1"/>
          <p:nvPr/>
        </p:nvSpPr>
        <p:spPr>
          <a:xfrm>
            <a:off x="1405050" y="1757634"/>
            <a:ext cx="7400400" cy="3139291"/>
          </a:xfrm>
          <a:prstGeom prst="rect">
            <a:avLst/>
          </a:prstGeom>
          <a:noFill/>
          <a:ln>
            <a:noFill/>
          </a:ln>
        </p:spPr>
        <p:txBody>
          <a:bodyPr spcFirstLastPara="1" wrap="square" lIns="91425" tIns="91425" rIns="91425" bIns="91425" anchor="t" anchorCtr="0">
            <a:spAutoFit/>
          </a:bodyPr>
          <a:lstStyle/>
          <a:p>
            <a:r>
              <a:rPr lang="en-US" sz="1200" dirty="0">
                <a:latin typeface="Montserrat Light" panose="00000400000000000000" pitchFamily="2" charset="0"/>
              </a:rPr>
              <a:t>The main design requirements are:</a:t>
            </a:r>
          </a:p>
          <a:p>
            <a:endParaRPr lang="en-US" sz="1200" dirty="0">
              <a:latin typeface="Montserrat Light" panose="00000400000000000000" pitchFamily="2" charset="0"/>
            </a:endParaRPr>
          </a:p>
          <a:p>
            <a:r>
              <a:rPr lang="en-US" sz="1200" b="1" dirty="0">
                <a:solidFill>
                  <a:srgbClr val="FFC000"/>
                </a:solidFill>
                <a:latin typeface="Montserrat" pitchFamily="2" charset="0"/>
              </a:rPr>
              <a:t>Data Volume</a:t>
            </a:r>
            <a:br>
              <a:rPr lang="en-US" sz="1200" dirty="0">
                <a:latin typeface="Montserrat Light" panose="00000400000000000000" pitchFamily="2" charset="0"/>
              </a:rPr>
            </a:br>
            <a:r>
              <a:rPr lang="en-US" sz="1200" dirty="0">
                <a:latin typeface="Montserrat Light" panose="00000400000000000000" pitchFamily="2" charset="0"/>
              </a:rPr>
              <a:t>Total amount of data to transmit and receive per day or per pass.</a:t>
            </a:r>
          </a:p>
          <a:p>
            <a:endParaRPr lang="en-US" sz="1200" dirty="0">
              <a:latin typeface="Montserrat Light" panose="00000400000000000000" pitchFamily="2" charset="0"/>
            </a:endParaRPr>
          </a:p>
          <a:p>
            <a:r>
              <a:rPr lang="en-US" sz="1200" b="1" dirty="0">
                <a:solidFill>
                  <a:srgbClr val="FFC000"/>
                </a:solidFill>
                <a:latin typeface="Montserrat" pitchFamily="2" charset="0"/>
              </a:rPr>
              <a:t>Timing and Coverage</a:t>
            </a:r>
            <a:br>
              <a:rPr lang="en-US" sz="1200" dirty="0">
                <a:latin typeface="Montserrat Light" panose="00000400000000000000" pitchFamily="2" charset="0"/>
              </a:rPr>
            </a:br>
            <a:r>
              <a:rPr lang="en-US" sz="1200" dirty="0">
                <a:latin typeface="Montserrat Light" panose="00000400000000000000" pitchFamily="2" charset="0"/>
              </a:rPr>
              <a:t>When communication is needed and for how long. This includes orbit type, ground station visibility, and uplink/downlink frequency selection.</a:t>
            </a:r>
          </a:p>
          <a:p>
            <a:endParaRPr lang="en-US" sz="1200" dirty="0">
              <a:latin typeface="Montserrat Light" panose="00000400000000000000" pitchFamily="2" charset="0"/>
            </a:endParaRPr>
          </a:p>
          <a:p>
            <a:r>
              <a:rPr lang="en-US" sz="1200" b="1" dirty="0">
                <a:solidFill>
                  <a:srgbClr val="FFC000"/>
                </a:solidFill>
                <a:latin typeface="Montserrat" pitchFamily="2" charset="0"/>
              </a:rPr>
              <a:t>Link Quality</a:t>
            </a:r>
            <a:br>
              <a:rPr lang="en-US" sz="1200" dirty="0">
                <a:latin typeface="Montserrat Light" panose="00000400000000000000" pitchFamily="2" charset="0"/>
              </a:rPr>
            </a:br>
            <a:r>
              <a:rPr lang="en-US" sz="1200" dirty="0">
                <a:latin typeface="Montserrat Light" panose="00000400000000000000" pitchFamily="2" charset="0"/>
              </a:rPr>
              <a:t>Required availability, reliability, and acceptable Bit Error Rate (BER).</a:t>
            </a:r>
          </a:p>
          <a:p>
            <a:endParaRPr lang="en-US" sz="1200" dirty="0">
              <a:latin typeface="Montserrat Light" panose="00000400000000000000" pitchFamily="2" charset="0"/>
            </a:endParaRPr>
          </a:p>
          <a:p>
            <a:r>
              <a:rPr lang="en-US" sz="1200" b="1" dirty="0">
                <a:solidFill>
                  <a:srgbClr val="FFC000"/>
                </a:solidFill>
                <a:latin typeface="Montserrat" pitchFamily="2" charset="0"/>
              </a:rPr>
              <a:t>Main limitations include</a:t>
            </a:r>
            <a:endParaRPr lang="en-US" sz="1200" dirty="0">
              <a:latin typeface="Montserrat Light" panose="00000400000000000000" pitchFamily="2" charset="0"/>
            </a:endParaRPr>
          </a:p>
          <a:p>
            <a:r>
              <a:rPr lang="en-US" sz="1200" dirty="0">
                <a:latin typeface="Montserrat Light" panose="00000400000000000000" pitchFamily="2" charset="0"/>
              </a:rPr>
              <a:t>• Technical constraints (power, mass, antenna size)</a:t>
            </a:r>
            <a:br>
              <a:rPr lang="en-US" sz="1200" dirty="0">
                <a:latin typeface="Montserrat Light" panose="00000400000000000000" pitchFamily="2" charset="0"/>
              </a:rPr>
            </a:br>
            <a:r>
              <a:rPr lang="en-US" sz="1200" dirty="0">
                <a:latin typeface="Montserrat Light" panose="00000400000000000000" pitchFamily="2" charset="0"/>
              </a:rPr>
              <a:t>• Environmental constraints (atmospheric losses, radiation)</a:t>
            </a:r>
            <a:br>
              <a:rPr lang="en-US" sz="1200" dirty="0">
                <a:latin typeface="Montserrat Light" panose="00000400000000000000" pitchFamily="2" charset="0"/>
              </a:rPr>
            </a:br>
            <a:r>
              <a:rPr lang="en-US" sz="1200" dirty="0">
                <a:latin typeface="Montserrat Light" panose="00000400000000000000" pitchFamily="2" charset="0"/>
              </a:rPr>
              <a:t>• International regulations (frequency allocation, licensing)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 name="Google Shape;157;p24"/>
          <p:cNvSpPr txBox="1">
            <a:spLocks noGrp="1"/>
          </p:cNvSpPr>
          <p:nvPr>
            <p:ph type="ctrTitle" idx="4294967295"/>
          </p:nvPr>
        </p:nvSpPr>
        <p:spPr>
          <a:xfrm>
            <a:off x="1304550" y="441725"/>
            <a:ext cx="7297500" cy="657300"/>
          </a:xfrm>
          <a:prstGeom prst="rect">
            <a:avLst/>
          </a:prstGeom>
        </p:spPr>
        <p:txBody>
          <a:bodyPr spcFirstLastPara="1" wrap="square" lIns="91425" tIns="91425" rIns="91425" bIns="91425" anchor="t" anchorCtr="0">
            <a:noAutofit/>
          </a:bodyPr>
          <a:lstStyle/>
          <a:p>
            <a:pPr lvl="0"/>
            <a:r>
              <a:rPr lang="en-US" sz="3600" dirty="0">
                <a:solidFill>
                  <a:schemeClr val="dk2"/>
                </a:solidFill>
                <a:latin typeface="Montserrat"/>
                <a:ea typeface="Montserrat"/>
                <a:cs typeface="Montserrat"/>
                <a:sym typeface="Montserrat"/>
              </a:rPr>
              <a:t>Telecommunication System in the Spacecraft</a:t>
            </a:r>
            <a:endParaRPr sz="3600" dirty="0">
              <a:solidFill>
                <a:schemeClr val="dk2"/>
              </a:solidFill>
              <a:latin typeface="Montserrat"/>
              <a:ea typeface="Montserrat"/>
              <a:cs typeface="Montserrat"/>
              <a:sym typeface="Montserrat"/>
            </a:endParaRPr>
          </a:p>
        </p:txBody>
      </p:sp>
      <p:pic>
        <p:nvPicPr>
          <p:cNvPr id="158" name="Google Shape;158;p24"/>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159" name="Google Shape;159;p24"/>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160" name="Google Shape;160;p24"/>
          <p:cNvSpPr txBox="1"/>
          <p:nvPr/>
        </p:nvSpPr>
        <p:spPr>
          <a:xfrm>
            <a:off x="1201650" y="1809753"/>
            <a:ext cx="7400400" cy="462532"/>
          </a:xfrm>
          <a:prstGeom prst="rect">
            <a:avLst/>
          </a:prstGeom>
          <a:noFill/>
          <a:ln>
            <a:noFill/>
          </a:ln>
        </p:spPr>
        <p:txBody>
          <a:bodyPr spcFirstLastPara="1" wrap="square" lIns="91425" tIns="91425" rIns="91425" bIns="91425" anchor="t" anchorCtr="0">
            <a:spAutoFit/>
          </a:bodyPr>
          <a:lstStyle/>
          <a:p>
            <a:pPr marR="38100" lvl="0">
              <a:lnSpc>
                <a:spcPct val="128571"/>
              </a:lnSpc>
            </a:pPr>
            <a:r>
              <a:rPr lang="en-US" dirty="0">
                <a:latin typeface="Montserrat Light" panose="00000400000000000000" pitchFamily="2" charset="0"/>
              </a:rPr>
              <a:t>The telecommunication subsystem interfaces with:</a:t>
            </a:r>
            <a:endParaRPr dirty="0">
              <a:solidFill>
                <a:schemeClr val="dk2"/>
              </a:solidFill>
              <a:latin typeface="Montserrat Light" panose="00000400000000000000" pitchFamily="2" charset="0"/>
              <a:ea typeface="Montserrat Light"/>
              <a:cs typeface="Montserrat Light"/>
              <a:sym typeface="Montserrat Light"/>
            </a:endParaRPr>
          </a:p>
        </p:txBody>
      </p:sp>
      <p:pic>
        <p:nvPicPr>
          <p:cNvPr id="161" name="Google Shape;161;p24"/>
          <p:cNvPicPr preferRelativeResize="0"/>
          <p:nvPr/>
        </p:nvPicPr>
        <p:blipFill>
          <a:blip r:embed="rId5">
            <a:alphaModFix/>
          </a:blip>
          <a:stretch>
            <a:fillRect/>
          </a:stretch>
        </p:blipFill>
        <p:spPr>
          <a:xfrm>
            <a:off x="2854590" y="2272285"/>
            <a:ext cx="4538704" cy="222528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6"/>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 name="Google Shape;177;p26"/>
          <p:cNvSpPr txBox="1">
            <a:spLocks noGrp="1"/>
          </p:cNvSpPr>
          <p:nvPr>
            <p:ph type="ctrTitle" idx="4294967295"/>
          </p:nvPr>
        </p:nvSpPr>
        <p:spPr>
          <a:xfrm>
            <a:off x="1119500" y="237238"/>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Frequencies</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178" name="Google Shape;178;p26"/>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179" name="Google Shape;179;p26"/>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180" name="Google Shape;180;p26"/>
          <p:cNvSpPr txBox="1"/>
          <p:nvPr/>
        </p:nvSpPr>
        <p:spPr>
          <a:xfrm>
            <a:off x="1405125" y="1428025"/>
            <a:ext cx="7400400" cy="446400"/>
          </a:xfrm>
          <a:prstGeom prst="rect">
            <a:avLst/>
          </a:prstGeom>
          <a:noFill/>
          <a:ln>
            <a:noFill/>
          </a:ln>
        </p:spPr>
        <p:txBody>
          <a:bodyPr spcFirstLastPara="1" wrap="square" lIns="91425" tIns="91425" rIns="91425" bIns="91425" anchor="t" anchorCtr="0">
            <a:spAutoFit/>
          </a:bodyPr>
          <a:lstStyle/>
          <a:p>
            <a:pPr marL="0" marR="38100" lvl="0" indent="0" algn="ctr" rtl="0">
              <a:lnSpc>
                <a:spcPct val="128571"/>
              </a:lnSpc>
              <a:spcBef>
                <a:spcPts val="0"/>
              </a:spcBef>
              <a:spcAft>
                <a:spcPts val="0"/>
              </a:spcAft>
              <a:buNone/>
            </a:pPr>
            <a:endParaRPr sz="1700">
              <a:solidFill>
                <a:schemeClr val="dk2"/>
              </a:solidFill>
              <a:latin typeface="Montserrat Light"/>
              <a:ea typeface="Montserrat Light"/>
              <a:cs typeface="Montserrat Light"/>
              <a:sym typeface="Montserrat Light"/>
            </a:endParaRPr>
          </a:p>
        </p:txBody>
      </p:sp>
      <p:graphicFrame>
        <p:nvGraphicFramePr>
          <p:cNvPr id="181" name="Google Shape;181;p26"/>
          <p:cNvGraphicFramePr/>
          <p:nvPr>
            <p:extLst>
              <p:ext uri="{D42A27DB-BD31-4B8C-83A1-F6EECF244321}">
                <p14:modId xmlns:p14="http://schemas.microsoft.com/office/powerpoint/2010/main" val="2473940449"/>
              </p:ext>
            </p:extLst>
          </p:nvPr>
        </p:nvGraphicFramePr>
        <p:xfrm>
          <a:off x="1119500" y="1099025"/>
          <a:ext cx="7239000" cy="3962100"/>
        </p:xfrm>
        <a:graphic>
          <a:graphicData uri="http://schemas.openxmlformats.org/drawingml/2006/table">
            <a:tbl>
              <a:tblPr>
                <a:noFill/>
                <a:tableStyleId>{91EABE30-3710-4AB7-993F-D74E6D828354}</a:tableStyleId>
              </a:tblPr>
              <a:tblGrid>
                <a:gridCol w="1160525">
                  <a:extLst>
                    <a:ext uri="{9D8B030D-6E8A-4147-A177-3AD203B41FA5}">
                      <a16:colId xmlns:a16="http://schemas.microsoft.com/office/drawing/2014/main" val="20000"/>
                    </a:ext>
                  </a:extLst>
                </a:gridCol>
                <a:gridCol w="1778400">
                  <a:extLst>
                    <a:ext uri="{9D8B030D-6E8A-4147-A177-3AD203B41FA5}">
                      <a16:colId xmlns:a16="http://schemas.microsoft.com/office/drawing/2014/main" val="20001"/>
                    </a:ext>
                  </a:extLst>
                </a:gridCol>
                <a:gridCol w="4300075">
                  <a:extLst>
                    <a:ext uri="{9D8B030D-6E8A-4147-A177-3AD203B41FA5}">
                      <a16:colId xmlns:a16="http://schemas.microsoft.com/office/drawing/2014/main" val="20002"/>
                    </a:ext>
                  </a:extLst>
                </a:gridCol>
              </a:tblGrid>
              <a:tr h="312700">
                <a:tc>
                  <a:txBody>
                    <a:bodyPr/>
                    <a:lstStyle/>
                    <a:p>
                      <a:pPr marL="0" lvl="0" indent="0" algn="ctr" rtl="0">
                        <a:spcBef>
                          <a:spcPts val="0"/>
                        </a:spcBef>
                        <a:spcAft>
                          <a:spcPts val="0"/>
                        </a:spcAft>
                        <a:buNone/>
                      </a:pPr>
                      <a:endParaRPr>
                        <a:latin typeface="Montserrat Light" panose="00000400000000000000" pitchFamily="2" charset="0"/>
                      </a:endParaRPr>
                    </a:p>
                  </a:txBody>
                  <a:tcPr marL="91425" marR="91425" marT="91425" marB="91425"/>
                </a:tc>
                <a:tc>
                  <a:txBody>
                    <a:bodyPr/>
                    <a:lstStyle/>
                    <a:p>
                      <a:pPr marL="0" lvl="0" indent="0" algn="ctr" rtl="0">
                        <a:spcBef>
                          <a:spcPts val="0"/>
                        </a:spcBef>
                        <a:spcAft>
                          <a:spcPts val="0"/>
                        </a:spcAft>
                        <a:buNone/>
                      </a:pPr>
                      <a:r>
                        <a:rPr lang="it">
                          <a:latin typeface="Montserrat Light" panose="00000400000000000000" pitchFamily="2" charset="0"/>
                        </a:rPr>
                        <a:t>Band </a:t>
                      </a:r>
                      <a:endParaRPr>
                        <a:latin typeface="Montserrat Light" panose="00000400000000000000" pitchFamily="2" charset="0"/>
                      </a:endParaRPr>
                    </a:p>
                  </a:txBody>
                  <a:tcPr marL="91425" marR="91425" marT="91425" marB="91425"/>
                </a:tc>
                <a:tc>
                  <a:txBody>
                    <a:bodyPr/>
                    <a:lstStyle/>
                    <a:p>
                      <a:pPr marL="0" lvl="0" indent="0" algn="l" rtl="0">
                        <a:spcBef>
                          <a:spcPts val="0"/>
                        </a:spcBef>
                        <a:spcAft>
                          <a:spcPts val="0"/>
                        </a:spcAft>
                        <a:buNone/>
                      </a:pPr>
                      <a:endParaRPr>
                        <a:latin typeface="Montserrat Light" panose="00000400000000000000" pitchFamily="2" charset="0"/>
                      </a:endParaRPr>
                    </a:p>
                  </a:txBody>
                  <a:tcPr marL="91425" marR="91425" marT="91425" marB="91425" anchor="ctr"/>
                </a:tc>
                <a:extLst>
                  <a:ext uri="{0D108BD9-81ED-4DB2-BD59-A6C34878D82A}">
                    <a16:rowId xmlns:a16="http://schemas.microsoft.com/office/drawing/2014/main" val="10000"/>
                  </a:ext>
                </a:extLst>
              </a:tr>
              <a:tr h="389425">
                <a:tc>
                  <a:txBody>
                    <a:bodyPr/>
                    <a:lstStyle/>
                    <a:p>
                      <a:pPr marL="0" lvl="0" indent="0" algn="ctr" rtl="0">
                        <a:spcBef>
                          <a:spcPts val="0"/>
                        </a:spcBef>
                        <a:spcAft>
                          <a:spcPts val="0"/>
                        </a:spcAft>
                        <a:buNone/>
                      </a:pPr>
                      <a:r>
                        <a:rPr lang="it">
                          <a:latin typeface="Montserrat Light" panose="00000400000000000000" pitchFamily="2" charset="0"/>
                        </a:rPr>
                        <a:t>VHF</a:t>
                      </a:r>
                      <a:endParaRPr>
                        <a:latin typeface="Montserrat Light" panose="00000400000000000000" pitchFamily="2" charset="0"/>
                      </a:endParaRPr>
                    </a:p>
                  </a:txBody>
                  <a:tcPr marL="91425" marR="91425" marT="91425" marB="91425"/>
                </a:tc>
                <a:tc>
                  <a:txBody>
                    <a:bodyPr/>
                    <a:lstStyle/>
                    <a:p>
                      <a:pPr marL="0" lvl="0" indent="0" algn="ctr" rtl="0">
                        <a:spcBef>
                          <a:spcPts val="0"/>
                        </a:spcBef>
                        <a:spcAft>
                          <a:spcPts val="0"/>
                        </a:spcAft>
                        <a:buNone/>
                      </a:pPr>
                      <a:r>
                        <a:rPr lang="it">
                          <a:latin typeface="Montserrat Light" panose="00000400000000000000" pitchFamily="2" charset="0"/>
                        </a:rPr>
                        <a:t>30 - 300 MHz</a:t>
                      </a:r>
                      <a:endParaRPr>
                        <a:latin typeface="Montserrat Light" panose="00000400000000000000" pitchFamily="2" charset="0"/>
                      </a:endParaRPr>
                    </a:p>
                  </a:txBody>
                  <a:tcPr marL="91425" marR="91425" marT="91425" marB="91425"/>
                </a:tc>
                <a:tc rowSpan="2">
                  <a:txBody>
                    <a:bodyPr/>
                    <a:lstStyle/>
                    <a:p>
                      <a:pPr marL="0" lvl="0" indent="0" algn="l" rtl="0">
                        <a:spcBef>
                          <a:spcPts val="0"/>
                        </a:spcBef>
                        <a:spcAft>
                          <a:spcPts val="0"/>
                        </a:spcAft>
                        <a:buNone/>
                      </a:pPr>
                      <a:r>
                        <a:rPr lang="it" dirty="0">
                          <a:latin typeface="Montserrat Light" panose="00000400000000000000" pitchFamily="2" charset="0"/>
                        </a:rPr>
                        <a:t>Typically used by missions with low data volume or for telemetry downlink</a:t>
                      </a:r>
                      <a:endParaRPr dirty="0">
                        <a:latin typeface="Montserrat Light" panose="00000400000000000000" pitchFamily="2" charset="0"/>
                      </a:endParaRPr>
                    </a:p>
                  </a:txBody>
                  <a:tcPr marL="91425" marR="91425" marT="91425" marB="91425" anchor="ctr"/>
                </a:tc>
                <a:extLst>
                  <a:ext uri="{0D108BD9-81ED-4DB2-BD59-A6C34878D82A}">
                    <a16:rowId xmlns:a16="http://schemas.microsoft.com/office/drawing/2014/main" val="10001"/>
                  </a:ext>
                </a:extLst>
              </a:tr>
              <a:tr h="389425">
                <a:tc>
                  <a:txBody>
                    <a:bodyPr/>
                    <a:lstStyle/>
                    <a:p>
                      <a:pPr marL="0" lvl="0" indent="0" algn="ctr" rtl="0">
                        <a:spcBef>
                          <a:spcPts val="0"/>
                        </a:spcBef>
                        <a:spcAft>
                          <a:spcPts val="0"/>
                        </a:spcAft>
                        <a:buNone/>
                      </a:pPr>
                      <a:r>
                        <a:rPr lang="it">
                          <a:latin typeface="Montserrat Light" panose="00000400000000000000" pitchFamily="2" charset="0"/>
                        </a:rPr>
                        <a:t>UHF</a:t>
                      </a:r>
                      <a:endParaRPr>
                        <a:latin typeface="Montserrat Light" panose="00000400000000000000" pitchFamily="2" charset="0"/>
                      </a:endParaRPr>
                    </a:p>
                  </a:txBody>
                  <a:tcPr marL="91425" marR="91425" marT="91425" marB="91425"/>
                </a:tc>
                <a:tc>
                  <a:txBody>
                    <a:bodyPr/>
                    <a:lstStyle/>
                    <a:p>
                      <a:pPr marL="0" lvl="0" indent="0" algn="ctr" rtl="0">
                        <a:spcBef>
                          <a:spcPts val="0"/>
                        </a:spcBef>
                        <a:spcAft>
                          <a:spcPts val="0"/>
                        </a:spcAft>
                        <a:buNone/>
                      </a:pPr>
                      <a:r>
                        <a:rPr lang="it">
                          <a:latin typeface="Montserrat Light" panose="00000400000000000000" pitchFamily="2" charset="0"/>
                        </a:rPr>
                        <a:t>300 - 1000 MHz</a:t>
                      </a:r>
                      <a:endParaRPr>
                        <a:latin typeface="Montserrat Light" panose="00000400000000000000" pitchFamily="2" charset="0"/>
                      </a:endParaRPr>
                    </a:p>
                  </a:txBody>
                  <a:tcPr marL="91425" marR="91425" marT="91425" marB="91425"/>
                </a:tc>
                <a:tc vMerge="1">
                  <a:txBody>
                    <a:bodyPr/>
                    <a:lstStyle/>
                    <a:p>
                      <a:endParaRPr lang="it-IT"/>
                    </a:p>
                  </a:txBody>
                  <a:tcPr/>
                </a:tc>
                <a:extLst>
                  <a:ext uri="{0D108BD9-81ED-4DB2-BD59-A6C34878D82A}">
                    <a16:rowId xmlns:a16="http://schemas.microsoft.com/office/drawing/2014/main" val="10002"/>
                  </a:ext>
                </a:extLst>
              </a:tr>
              <a:tr h="389425">
                <a:tc>
                  <a:txBody>
                    <a:bodyPr/>
                    <a:lstStyle/>
                    <a:p>
                      <a:pPr marL="0" lvl="0" indent="0" algn="ctr" rtl="0">
                        <a:spcBef>
                          <a:spcPts val="0"/>
                        </a:spcBef>
                        <a:spcAft>
                          <a:spcPts val="0"/>
                        </a:spcAft>
                        <a:buNone/>
                      </a:pPr>
                      <a:r>
                        <a:rPr lang="it">
                          <a:latin typeface="Montserrat Light" panose="00000400000000000000" pitchFamily="2" charset="0"/>
                        </a:rPr>
                        <a:t>L</a:t>
                      </a:r>
                      <a:endParaRPr>
                        <a:latin typeface="Montserrat Light" panose="00000400000000000000" pitchFamily="2" charset="0"/>
                      </a:endParaRPr>
                    </a:p>
                  </a:txBody>
                  <a:tcPr marL="91425" marR="91425" marT="91425" marB="91425"/>
                </a:tc>
                <a:tc>
                  <a:txBody>
                    <a:bodyPr/>
                    <a:lstStyle/>
                    <a:p>
                      <a:pPr marL="0" lvl="0" indent="0" algn="ctr" rtl="0">
                        <a:spcBef>
                          <a:spcPts val="0"/>
                        </a:spcBef>
                        <a:spcAft>
                          <a:spcPts val="0"/>
                        </a:spcAft>
                        <a:buNone/>
                      </a:pPr>
                      <a:r>
                        <a:rPr lang="it">
                          <a:latin typeface="Montserrat Light" panose="00000400000000000000" pitchFamily="2" charset="0"/>
                        </a:rPr>
                        <a:t>1 - 2 GHz</a:t>
                      </a:r>
                      <a:endParaRPr>
                        <a:latin typeface="Montserrat Light" panose="00000400000000000000" pitchFamily="2" charset="0"/>
                      </a:endParaRPr>
                    </a:p>
                  </a:txBody>
                  <a:tcPr marL="91425" marR="91425" marT="91425" marB="91425"/>
                </a:tc>
                <a:tc rowSpan="3">
                  <a:txBody>
                    <a:bodyPr/>
                    <a:lstStyle/>
                    <a:p>
                      <a:pPr marL="0" lvl="0" indent="0" algn="l" rtl="0">
                        <a:spcBef>
                          <a:spcPts val="0"/>
                        </a:spcBef>
                        <a:spcAft>
                          <a:spcPts val="0"/>
                        </a:spcAft>
                        <a:buNone/>
                      </a:pPr>
                      <a:r>
                        <a:rPr lang="it" dirty="0">
                          <a:latin typeface="Montserrat Light" panose="00000400000000000000" pitchFamily="2" charset="0"/>
                        </a:rPr>
                        <a:t>Used for high data rate missions</a:t>
                      </a:r>
                      <a:endParaRPr dirty="0">
                        <a:latin typeface="Montserrat Light" panose="00000400000000000000" pitchFamily="2" charset="0"/>
                      </a:endParaRPr>
                    </a:p>
                  </a:txBody>
                  <a:tcPr marL="91425" marR="91425" marT="91425" marB="91425" anchor="ctr"/>
                </a:tc>
                <a:extLst>
                  <a:ext uri="{0D108BD9-81ED-4DB2-BD59-A6C34878D82A}">
                    <a16:rowId xmlns:a16="http://schemas.microsoft.com/office/drawing/2014/main" val="10003"/>
                  </a:ext>
                </a:extLst>
              </a:tr>
              <a:tr h="389425">
                <a:tc>
                  <a:txBody>
                    <a:bodyPr/>
                    <a:lstStyle/>
                    <a:p>
                      <a:pPr marL="0" lvl="0" indent="0" algn="ctr" rtl="0">
                        <a:spcBef>
                          <a:spcPts val="0"/>
                        </a:spcBef>
                        <a:spcAft>
                          <a:spcPts val="0"/>
                        </a:spcAft>
                        <a:buNone/>
                      </a:pPr>
                      <a:r>
                        <a:rPr lang="it">
                          <a:latin typeface="Montserrat Light" panose="00000400000000000000" pitchFamily="2" charset="0"/>
                        </a:rPr>
                        <a:t>S</a:t>
                      </a:r>
                      <a:endParaRPr>
                        <a:latin typeface="Montserrat Light" panose="00000400000000000000" pitchFamily="2" charset="0"/>
                      </a:endParaRPr>
                    </a:p>
                  </a:txBody>
                  <a:tcPr marL="91425" marR="91425" marT="91425" marB="91425"/>
                </a:tc>
                <a:tc>
                  <a:txBody>
                    <a:bodyPr/>
                    <a:lstStyle/>
                    <a:p>
                      <a:pPr marL="0" lvl="0" indent="0" algn="ctr" rtl="0">
                        <a:spcBef>
                          <a:spcPts val="0"/>
                        </a:spcBef>
                        <a:spcAft>
                          <a:spcPts val="0"/>
                        </a:spcAft>
                        <a:buNone/>
                      </a:pPr>
                      <a:r>
                        <a:rPr lang="it">
                          <a:latin typeface="Montserrat Light" panose="00000400000000000000" pitchFamily="2" charset="0"/>
                        </a:rPr>
                        <a:t>2 - 4 GHz</a:t>
                      </a:r>
                      <a:endParaRPr>
                        <a:latin typeface="Montserrat Light" panose="00000400000000000000" pitchFamily="2" charset="0"/>
                      </a:endParaRPr>
                    </a:p>
                  </a:txBody>
                  <a:tcPr marL="91425" marR="91425" marT="91425" marB="91425"/>
                </a:tc>
                <a:tc vMerge="1">
                  <a:txBody>
                    <a:bodyPr/>
                    <a:lstStyle/>
                    <a:p>
                      <a:endParaRPr lang="it-IT"/>
                    </a:p>
                  </a:txBody>
                  <a:tcPr/>
                </a:tc>
                <a:extLst>
                  <a:ext uri="{0D108BD9-81ED-4DB2-BD59-A6C34878D82A}">
                    <a16:rowId xmlns:a16="http://schemas.microsoft.com/office/drawing/2014/main" val="10004"/>
                  </a:ext>
                </a:extLst>
              </a:tr>
              <a:tr h="389425">
                <a:tc>
                  <a:txBody>
                    <a:bodyPr/>
                    <a:lstStyle/>
                    <a:p>
                      <a:pPr marL="0" lvl="0" indent="0" algn="ctr" rtl="0">
                        <a:spcBef>
                          <a:spcPts val="0"/>
                        </a:spcBef>
                        <a:spcAft>
                          <a:spcPts val="0"/>
                        </a:spcAft>
                        <a:buNone/>
                      </a:pPr>
                      <a:r>
                        <a:rPr lang="it">
                          <a:latin typeface="Montserrat Light" panose="00000400000000000000" pitchFamily="2" charset="0"/>
                        </a:rPr>
                        <a:t>C</a:t>
                      </a:r>
                      <a:endParaRPr>
                        <a:latin typeface="Montserrat Light" panose="00000400000000000000" pitchFamily="2" charset="0"/>
                      </a:endParaRPr>
                    </a:p>
                  </a:txBody>
                  <a:tcPr marL="91425" marR="91425" marT="91425" marB="91425"/>
                </a:tc>
                <a:tc>
                  <a:txBody>
                    <a:bodyPr/>
                    <a:lstStyle/>
                    <a:p>
                      <a:pPr marL="0" lvl="0" indent="0" algn="ctr" rtl="0">
                        <a:spcBef>
                          <a:spcPts val="0"/>
                        </a:spcBef>
                        <a:spcAft>
                          <a:spcPts val="0"/>
                        </a:spcAft>
                        <a:buNone/>
                      </a:pPr>
                      <a:r>
                        <a:rPr lang="it">
                          <a:latin typeface="Montserrat Light" panose="00000400000000000000" pitchFamily="2" charset="0"/>
                        </a:rPr>
                        <a:t>4 - 8 GHz</a:t>
                      </a:r>
                      <a:endParaRPr>
                        <a:latin typeface="Montserrat Light" panose="00000400000000000000" pitchFamily="2" charset="0"/>
                      </a:endParaRPr>
                    </a:p>
                  </a:txBody>
                  <a:tcPr marL="91425" marR="91425" marT="91425" marB="91425"/>
                </a:tc>
                <a:tc vMerge="1">
                  <a:txBody>
                    <a:bodyPr/>
                    <a:lstStyle/>
                    <a:p>
                      <a:endParaRPr lang="it-IT"/>
                    </a:p>
                  </a:txBody>
                  <a:tcPr/>
                </a:tc>
                <a:extLst>
                  <a:ext uri="{0D108BD9-81ED-4DB2-BD59-A6C34878D82A}">
                    <a16:rowId xmlns:a16="http://schemas.microsoft.com/office/drawing/2014/main" val="10005"/>
                  </a:ext>
                </a:extLst>
              </a:tr>
              <a:tr h="389425">
                <a:tc>
                  <a:txBody>
                    <a:bodyPr/>
                    <a:lstStyle/>
                    <a:p>
                      <a:pPr marL="0" lvl="0" indent="0" algn="ctr" rtl="0">
                        <a:spcBef>
                          <a:spcPts val="0"/>
                        </a:spcBef>
                        <a:spcAft>
                          <a:spcPts val="0"/>
                        </a:spcAft>
                        <a:buNone/>
                      </a:pPr>
                      <a:r>
                        <a:rPr lang="it">
                          <a:latin typeface="Montserrat Light" panose="00000400000000000000" pitchFamily="2" charset="0"/>
                        </a:rPr>
                        <a:t>X</a:t>
                      </a:r>
                      <a:endParaRPr>
                        <a:latin typeface="Montserrat Light" panose="00000400000000000000" pitchFamily="2" charset="0"/>
                      </a:endParaRPr>
                    </a:p>
                  </a:txBody>
                  <a:tcPr marL="91425" marR="91425" marT="91425" marB="91425"/>
                </a:tc>
                <a:tc>
                  <a:txBody>
                    <a:bodyPr/>
                    <a:lstStyle/>
                    <a:p>
                      <a:pPr marL="0" lvl="0" indent="0" algn="ctr" rtl="0">
                        <a:spcBef>
                          <a:spcPts val="0"/>
                        </a:spcBef>
                        <a:spcAft>
                          <a:spcPts val="0"/>
                        </a:spcAft>
                        <a:buNone/>
                      </a:pPr>
                      <a:r>
                        <a:rPr lang="it">
                          <a:latin typeface="Montserrat Light" panose="00000400000000000000" pitchFamily="2" charset="0"/>
                        </a:rPr>
                        <a:t>8 - 12 GHz</a:t>
                      </a:r>
                      <a:endParaRPr>
                        <a:latin typeface="Montserrat Light" panose="00000400000000000000" pitchFamily="2" charset="0"/>
                      </a:endParaRPr>
                    </a:p>
                  </a:txBody>
                  <a:tcPr marL="91425" marR="91425" marT="91425" marB="91425"/>
                </a:tc>
                <a:tc rowSpan="4">
                  <a:txBody>
                    <a:bodyPr/>
                    <a:lstStyle/>
                    <a:p>
                      <a:pPr marL="0" lvl="0" indent="0" algn="l" rtl="0">
                        <a:spcBef>
                          <a:spcPts val="0"/>
                        </a:spcBef>
                        <a:spcAft>
                          <a:spcPts val="0"/>
                        </a:spcAft>
                        <a:buNone/>
                      </a:pPr>
                      <a:r>
                        <a:rPr lang="en-US" dirty="0">
                          <a:latin typeface="Montserrat Light" panose="00000400000000000000" pitchFamily="2" charset="0"/>
                        </a:rPr>
                        <a:t>Used for very high data rate missions.</a:t>
                      </a:r>
                      <a:endParaRPr dirty="0">
                        <a:latin typeface="Montserrat Light" panose="00000400000000000000" pitchFamily="2" charset="0"/>
                      </a:endParaRPr>
                    </a:p>
                  </a:txBody>
                  <a:tcPr marL="91425" marR="91425" marT="91425" marB="91425" anchor="ctr"/>
                </a:tc>
                <a:extLst>
                  <a:ext uri="{0D108BD9-81ED-4DB2-BD59-A6C34878D82A}">
                    <a16:rowId xmlns:a16="http://schemas.microsoft.com/office/drawing/2014/main" val="10006"/>
                  </a:ext>
                </a:extLst>
              </a:tr>
              <a:tr h="389425">
                <a:tc>
                  <a:txBody>
                    <a:bodyPr/>
                    <a:lstStyle/>
                    <a:p>
                      <a:pPr marL="0" lvl="0" indent="0" algn="ctr" rtl="0">
                        <a:spcBef>
                          <a:spcPts val="0"/>
                        </a:spcBef>
                        <a:spcAft>
                          <a:spcPts val="0"/>
                        </a:spcAft>
                        <a:buNone/>
                      </a:pPr>
                      <a:r>
                        <a:rPr lang="it">
                          <a:latin typeface="Montserrat Light" panose="00000400000000000000" pitchFamily="2" charset="0"/>
                        </a:rPr>
                        <a:t>Ku</a:t>
                      </a:r>
                      <a:endParaRPr>
                        <a:latin typeface="Montserrat Light" panose="00000400000000000000" pitchFamily="2" charset="0"/>
                      </a:endParaRPr>
                    </a:p>
                  </a:txBody>
                  <a:tcPr marL="91425" marR="91425" marT="91425" marB="91425"/>
                </a:tc>
                <a:tc>
                  <a:txBody>
                    <a:bodyPr/>
                    <a:lstStyle/>
                    <a:p>
                      <a:pPr marL="0" lvl="0" indent="0" algn="ctr" rtl="0">
                        <a:spcBef>
                          <a:spcPts val="0"/>
                        </a:spcBef>
                        <a:spcAft>
                          <a:spcPts val="0"/>
                        </a:spcAft>
                        <a:buNone/>
                      </a:pPr>
                      <a:r>
                        <a:rPr lang="it">
                          <a:latin typeface="Montserrat Light" panose="00000400000000000000" pitchFamily="2" charset="0"/>
                        </a:rPr>
                        <a:t>12 - 18 GHz</a:t>
                      </a:r>
                      <a:endParaRPr>
                        <a:latin typeface="Montserrat Light" panose="00000400000000000000" pitchFamily="2" charset="0"/>
                      </a:endParaRPr>
                    </a:p>
                  </a:txBody>
                  <a:tcPr marL="91425" marR="91425" marT="91425" marB="91425"/>
                </a:tc>
                <a:tc vMerge="1">
                  <a:txBody>
                    <a:bodyPr/>
                    <a:lstStyle/>
                    <a:p>
                      <a:endParaRPr lang="it-IT"/>
                    </a:p>
                  </a:txBody>
                  <a:tcPr/>
                </a:tc>
                <a:extLst>
                  <a:ext uri="{0D108BD9-81ED-4DB2-BD59-A6C34878D82A}">
                    <a16:rowId xmlns:a16="http://schemas.microsoft.com/office/drawing/2014/main" val="10007"/>
                  </a:ext>
                </a:extLst>
              </a:tr>
              <a:tr h="389425">
                <a:tc>
                  <a:txBody>
                    <a:bodyPr/>
                    <a:lstStyle/>
                    <a:p>
                      <a:pPr marL="0" lvl="0" indent="0" algn="ctr" rtl="0">
                        <a:spcBef>
                          <a:spcPts val="0"/>
                        </a:spcBef>
                        <a:spcAft>
                          <a:spcPts val="0"/>
                        </a:spcAft>
                        <a:buNone/>
                      </a:pPr>
                      <a:r>
                        <a:rPr lang="it">
                          <a:latin typeface="Montserrat Light" panose="00000400000000000000" pitchFamily="2" charset="0"/>
                        </a:rPr>
                        <a:t>K</a:t>
                      </a:r>
                      <a:endParaRPr>
                        <a:latin typeface="Montserrat Light" panose="00000400000000000000" pitchFamily="2" charset="0"/>
                      </a:endParaRPr>
                    </a:p>
                  </a:txBody>
                  <a:tcPr marL="91425" marR="91425" marT="91425" marB="91425"/>
                </a:tc>
                <a:tc>
                  <a:txBody>
                    <a:bodyPr/>
                    <a:lstStyle/>
                    <a:p>
                      <a:pPr marL="0" lvl="0" indent="0" algn="ctr" rtl="0">
                        <a:spcBef>
                          <a:spcPts val="0"/>
                        </a:spcBef>
                        <a:spcAft>
                          <a:spcPts val="0"/>
                        </a:spcAft>
                        <a:buNone/>
                      </a:pPr>
                      <a:r>
                        <a:rPr lang="it">
                          <a:latin typeface="Montserrat Light" panose="00000400000000000000" pitchFamily="2" charset="0"/>
                        </a:rPr>
                        <a:t>18 - 27 GHz</a:t>
                      </a:r>
                      <a:endParaRPr>
                        <a:latin typeface="Montserrat Light" panose="00000400000000000000" pitchFamily="2" charset="0"/>
                      </a:endParaRPr>
                    </a:p>
                  </a:txBody>
                  <a:tcPr marL="91425" marR="91425" marT="91425" marB="91425"/>
                </a:tc>
                <a:tc vMerge="1">
                  <a:txBody>
                    <a:bodyPr/>
                    <a:lstStyle/>
                    <a:p>
                      <a:endParaRPr lang="it-IT"/>
                    </a:p>
                  </a:txBody>
                  <a:tcPr/>
                </a:tc>
                <a:extLst>
                  <a:ext uri="{0D108BD9-81ED-4DB2-BD59-A6C34878D82A}">
                    <a16:rowId xmlns:a16="http://schemas.microsoft.com/office/drawing/2014/main" val="10008"/>
                  </a:ext>
                </a:extLst>
              </a:tr>
              <a:tr h="389425">
                <a:tc>
                  <a:txBody>
                    <a:bodyPr/>
                    <a:lstStyle/>
                    <a:p>
                      <a:pPr marL="0" lvl="0" indent="0" algn="ctr" rtl="0">
                        <a:spcBef>
                          <a:spcPts val="0"/>
                        </a:spcBef>
                        <a:spcAft>
                          <a:spcPts val="0"/>
                        </a:spcAft>
                        <a:buNone/>
                      </a:pPr>
                      <a:r>
                        <a:rPr lang="it">
                          <a:latin typeface="Montserrat Light" panose="00000400000000000000" pitchFamily="2" charset="0"/>
                        </a:rPr>
                        <a:t>Ka</a:t>
                      </a:r>
                      <a:endParaRPr>
                        <a:latin typeface="Montserrat Light" panose="00000400000000000000" pitchFamily="2" charset="0"/>
                      </a:endParaRPr>
                    </a:p>
                  </a:txBody>
                  <a:tcPr marL="91425" marR="91425" marT="91425" marB="91425"/>
                </a:tc>
                <a:tc>
                  <a:txBody>
                    <a:bodyPr/>
                    <a:lstStyle/>
                    <a:p>
                      <a:pPr marL="0" lvl="0" indent="0" algn="ctr" rtl="0">
                        <a:spcBef>
                          <a:spcPts val="0"/>
                        </a:spcBef>
                        <a:spcAft>
                          <a:spcPts val="0"/>
                        </a:spcAft>
                        <a:buNone/>
                      </a:pPr>
                      <a:r>
                        <a:rPr lang="it" dirty="0">
                          <a:latin typeface="Montserrat Light" panose="00000400000000000000" pitchFamily="2" charset="0"/>
                        </a:rPr>
                        <a:t>27 - 40 GHz</a:t>
                      </a:r>
                      <a:endParaRPr dirty="0">
                        <a:latin typeface="Montserrat Light" panose="00000400000000000000" pitchFamily="2" charset="0"/>
                      </a:endParaRPr>
                    </a:p>
                  </a:txBody>
                  <a:tcPr marL="91425" marR="91425" marT="91425" marB="91425"/>
                </a:tc>
                <a:tc vMerge="1">
                  <a:txBody>
                    <a:bodyPr/>
                    <a:lstStyle/>
                    <a:p>
                      <a:endParaRPr lang="it-IT"/>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7"/>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 name="Google Shape;187;p27"/>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Digital data transmission</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188" name="Google Shape;188;p27"/>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189" name="Google Shape;189;p27"/>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190" name="Google Shape;190;p27"/>
          <p:cNvSpPr txBox="1"/>
          <p:nvPr/>
        </p:nvSpPr>
        <p:spPr>
          <a:xfrm>
            <a:off x="1405125" y="1249326"/>
            <a:ext cx="6728400" cy="4373603"/>
          </a:xfrm>
          <a:prstGeom prst="rect">
            <a:avLst/>
          </a:prstGeom>
          <a:noFill/>
          <a:ln>
            <a:noFill/>
          </a:ln>
        </p:spPr>
        <p:txBody>
          <a:bodyPr spcFirstLastPara="1" wrap="square" lIns="91425" tIns="91425" rIns="91425" bIns="91425" anchor="t" anchorCtr="0">
            <a:spAutoFit/>
          </a:bodyPr>
          <a:lstStyle/>
          <a:p>
            <a:pPr marL="0" marR="38100" lvl="0" indent="0" algn="l" rtl="0">
              <a:lnSpc>
                <a:spcPct val="128571"/>
              </a:lnSpc>
              <a:spcBef>
                <a:spcPts val="0"/>
              </a:spcBef>
              <a:spcAft>
                <a:spcPts val="0"/>
              </a:spcAft>
              <a:buNone/>
            </a:pPr>
            <a:r>
              <a:rPr lang="it" sz="1600" dirty="0">
                <a:solidFill>
                  <a:schemeClr val="dk2"/>
                </a:solidFill>
                <a:latin typeface="Montserrat Light"/>
                <a:ea typeface="Montserrat Light"/>
                <a:cs typeface="Montserrat Light"/>
                <a:sym typeface="Montserrat Light"/>
              </a:rPr>
              <a:t>Almost every data is now transmitted in </a:t>
            </a:r>
            <a:r>
              <a:rPr lang="it" sz="1600" b="1" dirty="0">
                <a:solidFill>
                  <a:srgbClr val="FF9900"/>
                </a:solidFill>
                <a:latin typeface="Montserrat"/>
                <a:ea typeface="Montserrat"/>
                <a:cs typeface="Montserrat"/>
                <a:sym typeface="Montserrat"/>
              </a:rPr>
              <a:t>digital </a:t>
            </a:r>
            <a:r>
              <a:rPr lang="it" sz="1600" dirty="0">
                <a:solidFill>
                  <a:schemeClr val="dk2"/>
                </a:solidFill>
                <a:latin typeface="Montserrat Light"/>
                <a:ea typeface="Montserrat Light"/>
                <a:cs typeface="Montserrat Light"/>
                <a:sym typeface="Montserrat Light"/>
              </a:rPr>
              <a:t>form. This means that we have to transmit only ones or zeros.</a:t>
            </a:r>
            <a:endParaRPr sz="1600" dirty="0">
              <a:solidFill>
                <a:schemeClr val="dk2"/>
              </a:solidFill>
              <a:latin typeface="Montserrat Light"/>
              <a:ea typeface="Montserrat Light"/>
              <a:cs typeface="Montserrat Light"/>
              <a:sym typeface="Montserrat Light"/>
            </a:endParaRPr>
          </a:p>
          <a:p>
            <a:pPr marL="0" marR="38100" lvl="0" indent="0" algn="l" rtl="0">
              <a:lnSpc>
                <a:spcPct val="128571"/>
              </a:lnSpc>
              <a:spcBef>
                <a:spcPts val="0"/>
              </a:spcBef>
              <a:spcAft>
                <a:spcPts val="0"/>
              </a:spcAft>
              <a:buNone/>
            </a:pPr>
            <a:r>
              <a:rPr lang="it" sz="1600" dirty="0">
                <a:solidFill>
                  <a:schemeClr val="dk2"/>
                </a:solidFill>
                <a:latin typeface="Montserrat Light"/>
                <a:ea typeface="Montserrat Light"/>
                <a:cs typeface="Montserrat Light"/>
                <a:sym typeface="Montserrat Light"/>
              </a:rPr>
              <a:t>This informations can be interpreted electrically by different voltages.</a:t>
            </a:r>
            <a:endParaRPr sz="1600" dirty="0">
              <a:solidFill>
                <a:schemeClr val="dk2"/>
              </a:solidFill>
              <a:latin typeface="Montserrat Light"/>
              <a:ea typeface="Montserrat Light"/>
              <a:cs typeface="Montserrat Light"/>
              <a:sym typeface="Montserrat Light"/>
            </a:endParaRPr>
          </a:p>
          <a:p>
            <a:pPr marR="38100" lvl="0">
              <a:lnSpc>
                <a:spcPct val="128571"/>
              </a:lnSpc>
            </a:pPr>
            <a:r>
              <a:rPr lang="it" sz="1600" dirty="0">
                <a:solidFill>
                  <a:schemeClr val="dk2"/>
                </a:solidFill>
                <a:latin typeface="Montserrat Light"/>
                <a:ea typeface="Montserrat Light"/>
                <a:cs typeface="Montserrat Light"/>
                <a:sym typeface="Montserrat Light"/>
              </a:rPr>
              <a:t>We represent a </a:t>
            </a:r>
            <a:r>
              <a:rPr lang="it" sz="1600" b="1" dirty="0">
                <a:solidFill>
                  <a:schemeClr val="dk2"/>
                </a:solidFill>
                <a:latin typeface="Montserrat"/>
                <a:ea typeface="Montserrat"/>
                <a:cs typeface="Montserrat"/>
                <a:sym typeface="Montserrat"/>
              </a:rPr>
              <a:t>1</a:t>
            </a:r>
            <a:r>
              <a:rPr lang="it" sz="1600" dirty="0">
                <a:solidFill>
                  <a:schemeClr val="dk2"/>
                </a:solidFill>
                <a:latin typeface="Montserrat Light"/>
                <a:ea typeface="Montserrat Light"/>
                <a:cs typeface="Montserrat Light"/>
                <a:sym typeface="Montserrat Light"/>
              </a:rPr>
              <a:t> using </a:t>
            </a:r>
            <a:r>
              <a:rPr lang="it" sz="1600" b="1" dirty="0">
                <a:solidFill>
                  <a:srgbClr val="FF9900"/>
                </a:solidFill>
                <a:latin typeface="Montserrat"/>
                <a:ea typeface="Montserrat"/>
                <a:cs typeface="Montserrat"/>
                <a:sym typeface="Montserrat"/>
              </a:rPr>
              <a:t>5V</a:t>
            </a:r>
            <a:r>
              <a:rPr lang="it" sz="1600" dirty="0">
                <a:solidFill>
                  <a:srgbClr val="FF9900"/>
                </a:solidFill>
                <a:latin typeface="Montserrat Light"/>
                <a:ea typeface="Montserrat Light"/>
                <a:cs typeface="Montserrat Light"/>
                <a:sym typeface="Montserrat Light"/>
              </a:rPr>
              <a:t> </a:t>
            </a:r>
            <a:r>
              <a:rPr lang="it" sz="1600" dirty="0">
                <a:solidFill>
                  <a:schemeClr val="dk2"/>
                </a:solidFill>
                <a:latin typeface="Montserrat Light"/>
                <a:ea typeface="Montserrat Light"/>
                <a:cs typeface="Montserrat Light"/>
                <a:sym typeface="Montserrat Light"/>
              </a:rPr>
              <a:t>and we represent a </a:t>
            </a:r>
            <a:r>
              <a:rPr lang="it" sz="1600" b="1" dirty="0">
                <a:solidFill>
                  <a:schemeClr val="dk2"/>
                </a:solidFill>
                <a:latin typeface="Montserrat"/>
                <a:ea typeface="Montserrat"/>
                <a:cs typeface="Montserrat"/>
                <a:sym typeface="Montserrat"/>
              </a:rPr>
              <a:t>0</a:t>
            </a:r>
            <a:r>
              <a:rPr lang="it" sz="1600" dirty="0">
                <a:solidFill>
                  <a:schemeClr val="dk2"/>
                </a:solidFill>
                <a:latin typeface="Montserrat Light"/>
                <a:ea typeface="Montserrat Light"/>
                <a:cs typeface="Montserrat Light"/>
                <a:sym typeface="Montserrat Light"/>
              </a:rPr>
              <a:t> using </a:t>
            </a:r>
            <a:r>
              <a:rPr lang="it" sz="1600" b="1" dirty="0">
                <a:solidFill>
                  <a:srgbClr val="FF9900"/>
                </a:solidFill>
                <a:latin typeface="Montserrat"/>
                <a:ea typeface="Montserrat"/>
                <a:cs typeface="Montserrat"/>
                <a:sym typeface="Montserrat"/>
              </a:rPr>
              <a:t>0V</a:t>
            </a:r>
            <a:r>
              <a:rPr lang="it" sz="1600" dirty="0">
                <a:solidFill>
                  <a:schemeClr val="dk2"/>
                </a:solidFill>
                <a:latin typeface="Montserrat Light"/>
                <a:ea typeface="Montserrat Light"/>
                <a:cs typeface="Montserrat Light"/>
                <a:sym typeface="Montserrat Light"/>
              </a:rPr>
              <a:t>.</a:t>
            </a:r>
            <a:r>
              <a:rPr lang="en-US" sz="1600" dirty="0"/>
              <a:t> </a:t>
            </a:r>
          </a:p>
          <a:p>
            <a:pPr marR="38100" lvl="0">
              <a:lnSpc>
                <a:spcPct val="128571"/>
              </a:lnSpc>
            </a:pPr>
            <a:endParaRPr lang="en-US" sz="1600" dirty="0"/>
          </a:p>
          <a:p>
            <a:pPr marR="38100" lvl="0">
              <a:lnSpc>
                <a:spcPct val="128571"/>
              </a:lnSpc>
            </a:pPr>
            <a:endParaRPr lang="en-US" sz="1600" dirty="0"/>
          </a:p>
          <a:p>
            <a:pPr marR="38100" lvl="0">
              <a:lnSpc>
                <a:spcPct val="128571"/>
              </a:lnSpc>
            </a:pPr>
            <a:endParaRPr lang="en-US" sz="1600" dirty="0"/>
          </a:p>
          <a:p>
            <a:pPr marR="38100" lvl="0">
              <a:lnSpc>
                <a:spcPct val="128571"/>
              </a:lnSpc>
            </a:pPr>
            <a:endParaRPr lang="en-US" sz="1600" dirty="0">
              <a:latin typeface="Montserrat Light" panose="00000400000000000000" pitchFamily="2" charset="0"/>
            </a:endParaRPr>
          </a:p>
          <a:p>
            <a:pPr marR="38100" lvl="0">
              <a:lnSpc>
                <a:spcPct val="128571"/>
              </a:lnSpc>
            </a:pPr>
            <a:r>
              <a:rPr lang="en-US" sz="1600" dirty="0">
                <a:latin typeface="Montserrat Light" panose="00000400000000000000" pitchFamily="2" charset="0"/>
              </a:rPr>
              <a:t>These digital signals are processed and then modulated onto a carrier wave for transmission.</a:t>
            </a:r>
            <a:endParaRPr sz="1600" dirty="0">
              <a:solidFill>
                <a:schemeClr val="dk2"/>
              </a:solidFill>
              <a:latin typeface="Montserrat Light" panose="00000400000000000000" pitchFamily="2" charset="0"/>
              <a:ea typeface="Montserrat Light"/>
              <a:cs typeface="Montserrat Light"/>
              <a:sym typeface="Montserrat Light"/>
            </a:endParaRPr>
          </a:p>
          <a:p>
            <a:pPr marL="0" marR="38100" lvl="0" indent="0" algn="l" rtl="0">
              <a:lnSpc>
                <a:spcPct val="128571"/>
              </a:lnSpc>
              <a:spcBef>
                <a:spcPts val="0"/>
              </a:spcBef>
              <a:spcAft>
                <a:spcPts val="0"/>
              </a:spcAft>
              <a:buNone/>
            </a:pPr>
            <a:endParaRPr sz="1800" dirty="0">
              <a:solidFill>
                <a:schemeClr val="dk2"/>
              </a:solidFill>
              <a:latin typeface="Montserrat Light" panose="00000400000000000000" pitchFamily="2" charset="0"/>
              <a:ea typeface="Montserrat Light"/>
              <a:cs typeface="Montserrat Light"/>
              <a:sym typeface="Montserrat Light"/>
            </a:endParaRPr>
          </a:p>
          <a:p>
            <a:pPr marL="0" marR="38100" lvl="0" indent="0" algn="ctr" rtl="0">
              <a:lnSpc>
                <a:spcPct val="128571"/>
              </a:lnSpc>
              <a:spcBef>
                <a:spcPts val="0"/>
              </a:spcBef>
              <a:spcAft>
                <a:spcPts val="0"/>
              </a:spcAft>
              <a:buNone/>
            </a:pPr>
            <a:endParaRPr sz="1700" dirty="0">
              <a:solidFill>
                <a:schemeClr val="dk2"/>
              </a:solidFill>
              <a:latin typeface="Montserrat Light"/>
              <a:ea typeface="Montserrat Light"/>
              <a:cs typeface="Montserrat Light"/>
              <a:sym typeface="Montserrat Light"/>
            </a:endParaRPr>
          </a:p>
        </p:txBody>
      </p:sp>
      <p:pic>
        <p:nvPicPr>
          <p:cNvPr id="191" name="Google Shape;191;p27"/>
          <p:cNvPicPr preferRelativeResize="0"/>
          <p:nvPr/>
        </p:nvPicPr>
        <p:blipFill>
          <a:blip r:embed="rId5">
            <a:alphaModFix/>
          </a:blip>
          <a:stretch>
            <a:fillRect/>
          </a:stretch>
        </p:blipFill>
        <p:spPr>
          <a:xfrm>
            <a:off x="2211571" y="3013219"/>
            <a:ext cx="4018293" cy="88095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8"/>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 name="Google Shape;197;p28"/>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Modulation</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198" name="Google Shape;198;p28"/>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199" name="Google Shape;199;p28"/>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200" name="Google Shape;200;p28"/>
          <p:cNvSpPr txBox="1"/>
          <p:nvPr/>
        </p:nvSpPr>
        <p:spPr>
          <a:xfrm>
            <a:off x="1405125" y="1428025"/>
            <a:ext cx="7422000" cy="3456942"/>
          </a:xfrm>
          <a:prstGeom prst="rect">
            <a:avLst/>
          </a:prstGeom>
          <a:noFill/>
          <a:ln>
            <a:noFill/>
          </a:ln>
        </p:spPr>
        <p:txBody>
          <a:bodyPr spcFirstLastPara="1" wrap="square" lIns="91425" tIns="91425" rIns="91425" bIns="91425" anchor="t" anchorCtr="0">
            <a:spAutoFit/>
          </a:bodyPr>
          <a:lstStyle/>
          <a:p>
            <a:r>
              <a:rPr lang="it-IT" sz="1600" dirty="0">
                <a:latin typeface="Montserrat Light" panose="00000400000000000000" pitchFamily="2" charset="0"/>
              </a:rPr>
              <a:t>To </a:t>
            </a:r>
            <a:r>
              <a:rPr lang="it-IT" sz="1600" dirty="0" err="1">
                <a:latin typeface="Montserrat Light" panose="00000400000000000000" pitchFamily="2" charset="0"/>
              </a:rPr>
              <a:t>transmit</a:t>
            </a:r>
            <a:r>
              <a:rPr lang="it-IT" sz="1600" dirty="0">
                <a:latin typeface="Montserrat Light" panose="00000400000000000000" pitchFamily="2" charset="0"/>
              </a:rPr>
              <a:t> </a:t>
            </a:r>
            <a:r>
              <a:rPr lang="it-IT" sz="1600" dirty="0" err="1">
                <a:latin typeface="Montserrat Light" panose="00000400000000000000" pitchFamily="2" charset="0"/>
              </a:rPr>
              <a:t>digital</a:t>
            </a:r>
            <a:r>
              <a:rPr lang="it-IT" sz="1600" dirty="0">
                <a:latin typeface="Montserrat Light" panose="00000400000000000000" pitchFamily="2" charset="0"/>
              </a:rPr>
              <a:t> data </a:t>
            </a:r>
            <a:r>
              <a:rPr lang="it-IT" sz="1600" dirty="0" err="1">
                <a:latin typeface="Montserrat Light" panose="00000400000000000000" pitchFamily="2" charset="0"/>
              </a:rPr>
              <a:t>wirelessly</a:t>
            </a:r>
            <a:r>
              <a:rPr lang="it-IT" sz="1600" dirty="0">
                <a:latin typeface="Montserrat Light" panose="00000400000000000000" pitchFamily="2" charset="0"/>
              </a:rPr>
              <a:t>, </a:t>
            </a:r>
            <a:r>
              <a:rPr lang="it-IT" sz="1600" dirty="0" err="1">
                <a:latin typeface="Montserrat Light" panose="00000400000000000000" pitchFamily="2" charset="0"/>
              </a:rPr>
              <a:t>we</a:t>
            </a:r>
            <a:r>
              <a:rPr lang="it-IT" sz="1600" dirty="0">
                <a:latin typeface="Montserrat Light" panose="00000400000000000000" pitchFamily="2" charset="0"/>
              </a:rPr>
              <a:t> combine:</a:t>
            </a:r>
          </a:p>
          <a:p>
            <a:pPr marL="285750" indent="-285750">
              <a:buFont typeface="Arial" panose="020B0604020202020204" pitchFamily="34" charset="0"/>
              <a:buChar char="•"/>
            </a:pPr>
            <a:r>
              <a:rPr lang="it-IT" sz="1600" dirty="0">
                <a:latin typeface="Montserrat Light" panose="00000400000000000000" pitchFamily="2" charset="0"/>
              </a:rPr>
              <a:t>A </a:t>
            </a:r>
            <a:r>
              <a:rPr lang="it-IT" sz="1600" dirty="0" err="1">
                <a:latin typeface="Montserrat Light" panose="00000400000000000000" pitchFamily="2" charset="0"/>
              </a:rPr>
              <a:t>digital</a:t>
            </a:r>
            <a:r>
              <a:rPr lang="it-IT" sz="1600" dirty="0">
                <a:latin typeface="Montserrat Light" panose="00000400000000000000" pitchFamily="2" charset="0"/>
              </a:rPr>
              <a:t> </a:t>
            </a:r>
            <a:r>
              <a:rPr lang="it-IT" sz="1600" dirty="0" err="1">
                <a:latin typeface="Montserrat Light" panose="00000400000000000000" pitchFamily="2" charset="0"/>
              </a:rPr>
              <a:t>signal</a:t>
            </a:r>
            <a:endParaRPr lang="it-IT" sz="1600" dirty="0">
              <a:latin typeface="Montserrat Light" panose="00000400000000000000" pitchFamily="2" charset="0"/>
            </a:endParaRPr>
          </a:p>
          <a:p>
            <a:pPr marL="285750" indent="-285750">
              <a:buFont typeface="Arial" panose="020B0604020202020204" pitchFamily="34" charset="0"/>
              <a:buChar char="•"/>
            </a:pPr>
            <a:r>
              <a:rPr lang="it-IT" sz="1600" dirty="0">
                <a:latin typeface="Montserrat Light" panose="00000400000000000000" pitchFamily="2" charset="0"/>
              </a:rPr>
              <a:t>A high-frequency carrier </a:t>
            </a:r>
            <a:r>
              <a:rPr lang="it-IT" sz="1600" dirty="0" err="1">
                <a:latin typeface="Montserrat Light" panose="00000400000000000000" pitchFamily="2" charset="0"/>
              </a:rPr>
              <a:t>wave</a:t>
            </a:r>
            <a:endParaRPr lang="it-IT" sz="1600" dirty="0">
              <a:latin typeface="Montserrat Light" panose="00000400000000000000" pitchFamily="2" charset="0"/>
            </a:endParaRPr>
          </a:p>
          <a:p>
            <a:endParaRPr lang="it-IT" sz="1600" dirty="0">
              <a:latin typeface="Montserrat Light" panose="00000400000000000000" pitchFamily="2" charset="0"/>
            </a:endParaRPr>
          </a:p>
          <a:p>
            <a:r>
              <a:rPr lang="it-IT" sz="1600" dirty="0">
                <a:latin typeface="Montserrat Light" panose="00000400000000000000" pitchFamily="2" charset="0"/>
              </a:rPr>
              <a:t>The </a:t>
            </a:r>
            <a:r>
              <a:rPr lang="it-IT" sz="1600" dirty="0" err="1">
                <a:latin typeface="Montserrat Light" panose="00000400000000000000" pitchFamily="2" charset="0"/>
              </a:rPr>
              <a:t>result</a:t>
            </a:r>
            <a:r>
              <a:rPr lang="it-IT" sz="1600" dirty="0">
                <a:latin typeface="Montserrat Light" panose="00000400000000000000" pitchFamily="2" charset="0"/>
              </a:rPr>
              <a:t> </a:t>
            </a:r>
            <a:r>
              <a:rPr lang="it-IT" sz="1600" dirty="0" err="1">
                <a:latin typeface="Montserrat Light" panose="00000400000000000000" pitchFamily="2" charset="0"/>
              </a:rPr>
              <a:t>is</a:t>
            </a:r>
            <a:r>
              <a:rPr lang="it-IT" sz="1600" dirty="0">
                <a:latin typeface="Montserrat Light" panose="00000400000000000000" pitchFamily="2" charset="0"/>
              </a:rPr>
              <a:t> a </a:t>
            </a:r>
            <a:r>
              <a:rPr lang="it-IT" sz="1600" dirty="0" err="1">
                <a:latin typeface="Montserrat Light" panose="00000400000000000000" pitchFamily="2" charset="0"/>
              </a:rPr>
              <a:t>modulated</a:t>
            </a:r>
            <a:r>
              <a:rPr lang="it-IT" sz="1600" dirty="0">
                <a:latin typeface="Montserrat Light" panose="00000400000000000000" pitchFamily="2" charset="0"/>
              </a:rPr>
              <a:t> </a:t>
            </a:r>
            <a:r>
              <a:rPr lang="it-IT" sz="1600" dirty="0" err="1">
                <a:latin typeface="Montserrat Light" panose="00000400000000000000" pitchFamily="2" charset="0"/>
              </a:rPr>
              <a:t>signal</a:t>
            </a:r>
            <a:r>
              <a:rPr lang="it-IT" sz="1600" dirty="0">
                <a:latin typeface="Montserrat Light" panose="00000400000000000000" pitchFamily="2" charset="0"/>
              </a:rPr>
              <a:t>.</a:t>
            </a:r>
          </a:p>
          <a:p>
            <a:endParaRPr lang="it-IT" sz="1600" dirty="0">
              <a:latin typeface="Montserrat Light" panose="00000400000000000000" pitchFamily="2" charset="0"/>
            </a:endParaRPr>
          </a:p>
          <a:p>
            <a:r>
              <a:rPr lang="it-IT" sz="1600" dirty="0" err="1">
                <a:latin typeface="Montserrat Light" panose="00000400000000000000" pitchFamily="2" charset="0"/>
              </a:rPr>
              <a:t>Main</a:t>
            </a:r>
            <a:r>
              <a:rPr lang="it-IT" sz="1600" dirty="0">
                <a:latin typeface="Montserrat Light" panose="00000400000000000000" pitchFamily="2" charset="0"/>
              </a:rPr>
              <a:t> </a:t>
            </a:r>
            <a:r>
              <a:rPr lang="it-IT" sz="1600" dirty="0" err="1">
                <a:latin typeface="Montserrat Light" panose="00000400000000000000" pitchFamily="2" charset="0"/>
              </a:rPr>
              <a:t>modulation</a:t>
            </a:r>
            <a:r>
              <a:rPr lang="it-IT" sz="1600" dirty="0">
                <a:latin typeface="Montserrat Light" panose="00000400000000000000" pitchFamily="2" charset="0"/>
              </a:rPr>
              <a:t> </a:t>
            </a:r>
            <a:r>
              <a:rPr lang="it-IT" sz="1600" dirty="0" err="1">
                <a:latin typeface="Montserrat Light" panose="00000400000000000000" pitchFamily="2" charset="0"/>
              </a:rPr>
              <a:t>types</a:t>
            </a:r>
            <a:r>
              <a:rPr lang="it-IT" sz="1600" dirty="0">
                <a:latin typeface="Montserrat Light" panose="00000400000000000000" pitchFamily="2" charset="0"/>
              </a:rPr>
              <a:t>:</a:t>
            </a:r>
          </a:p>
          <a:p>
            <a:r>
              <a:rPr lang="it-IT" sz="1600" b="1" dirty="0">
                <a:solidFill>
                  <a:srgbClr val="FFC000"/>
                </a:solidFill>
                <a:latin typeface="Montserrat" pitchFamily="2" charset="0"/>
              </a:rPr>
              <a:t>ASK (</a:t>
            </a:r>
            <a:r>
              <a:rPr lang="it-IT" sz="1600" b="1" dirty="0" err="1">
                <a:solidFill>
                  <a:srgbClr val="FFC000"/>
                </a:solidFill>
                <a:latin typeface="Montserrat" pitchFamily="2" charset="0"/>
              </a:rPr>
              <a:t>Amplitude</a:t>
            </a:r>
            <a:r>
              <a:rPr lang="it-IT" sz="1600" b="1" dirty="0">
                <a:solidFill>
                  <a:srgbClr val="FFC000"/>
                </a:solidFill>
                <a:latin typeface="Montserrat" pitchFamily="2" charset="0"/>
              </a:rPr>
              <a:t> Shift </a:t>
            </a:r>
            <a:r>
              <a:rPr lang="it-IT" sz="1600" b="1" dirty="0" err="1">
                <a:solidFill>
                  <a:srgbClr val="FFC000"/>
                </a:solidFill>
                <a:latin typeface="Montserrat" pitchFamily="2" charset="0"/>
              </a:rPr>
              <a:t>Keying</a:t>
            </a:r>
            <a:r>
              <a:rPr lang="it-IT" sz="1600" b="1" dirty="0">
                <a:solidFill>
                  <a:srgbClr val="FFC000"/>
                </a:solidFill>
                <a:latin typeface="Montserrat" pitchFamily="2" charset="0"/>
              </a:rPr>
              <a:t>)</a:t>
            </a:r>
            <a:br>
              <a:rPr lang="it-IT" sz="1600" b="1" dirty="0">
                <a:solidFill>
                  <a:srgbClr val="FFC000"/>
                </a:solidFill>
                <a:latin typeface="Montserrat" pitchFamily="2" charset="0"/>
              </a:rPr>
            </a:br>
            <a:r>
              <a:rPr lang="it-IT" sz="1600" b="1" dirty="0">
                <a:solidFill>
                  <a:srgbClr val="FFC000"/>
                </a:solidFill>
                <a:latin typeface="Montserrat" pitchFamily="2" charset="0"/>
              </a:rPr>
              <a:t>FSK (Frequency Shift </a:t>
            </a:r>
            <a:r>
              <a:rPr lang="it-IT" sz="1600" b="1" dirty="0" err="1">
                <a:solidFill>
                  <a:srgbClr val="FFC000"/>
                </a:solidFill>
                <a:latin typeface="Montserrat" pitchFamily="2" charset="0"/>
              </a:rPr>
              <a:t>Keying</a:t>
            </a:r>
            <a:r>
              <a:rPr lang="it-IT" sz="1600" b="1" dirty="0">
                <a:solidFill>
                  <a:srgbClr val="FFC000"/>
                </a:solidFill>
                <a:latin typeface="Montserrat" pitchFamily="2" charset="0"/>
              </a:rPr>
              <a:t>)</a:t>
            </a:r>
            <a:br>
              <a:rPr lang="it-IT" sz="1600" b="1" dirty="0">
                <a:solidFill>
                  <a:srgbClr val="FFC000"/>
                </a:solidFill>
                <a:latin typeface="Montserrat" pitchFamily="2" charset="0"/>
              </a:rPr>
            </a:br>
            <a:r>
              <a:rPr lang="it-IT" sz="1600" b="1" dirty="0">
                <a:solidFill>
                  <a:srgbClr val="FFC000"/>
                </a:solidFill>
                <a:latin typeface="Montserrat" pitchFamily="2" charset="0"/>
              </a:rPr>
              <a:t>PSK (</a:t>
            </a:r>
            <a:r>
              <a:rPr lang="it-IT" sz="1600" b="1" dirty="0" err="1">
                <a:solidFill>
                  <a:srgbClr val="FFC000"/>
                </a:solidFill>
                <a:latin typeface="Montserrat" pitchFamily="2" charset="0"/>
              </a:rPr>
              <a:t>Phase</a:t>
            </a:r>
            <a:r>
              <a:rPr lang="it-IT" sz="1600" b="1" dirty="0">
                <a:solidFill>
                  <a:srgbClr val="FFC000"/>
                </a:solidFill>
                <a:latin typeface="Montserrat" pitchFamily="2" charset="0"/>
              </a:rPr>
              <a:t> Shift </a:t>
            </a:r>
            <a:r>
              <a:rPr lang="it-IT" sz="1600" b="1" dirty="0" err="1">
                <a:solidFill>
                  <a:srgbClr val="FFC000"/>
                </a:solidFill>
                <a:latin typeface="Montserrat" pitchFamily="2" charset="0"/>
              </a:rPr>
              <a:t>Keying</a:t>
            </a:r>
            <a:r>
              <a:rPr lang="it-IT" sz="1600" b="1" dirty="0">
                <a:solidFill>
                  <a:srgbClr val="FFC000"/>
                </a:solidFill>
                <a:latin typeface="Montserrat" pitchFamily="2" charset="0"/>
              </a:rPr>
              <a:t>)</a:t>
            </a:r>
          </a:p>
          <a:p>
            <a:endParaRPr lang="it-IT" sz="1600" dirty="0">
              <a:latin typeface="Montserrat Light" panose="00000400000000000000" pitchFamily="2" charset="0"/>
            </a:endParaRPr>
          </a:p>
          <a:p>
            <a:r>
              <a:rPr lang="it-IT" sz="1600" dirty="0" err="1">
                <a:latin typeface="Montserrat Light" panose="00000400000000000000" pitchFamily="2" charset="0"/>
              </a:rPr>
              <a:t>Each</a:t>
            </a:r>
            <a:r>
              <a:rPr lang="it-IT" sz="1600" dirty="0">
                <a:latin typeface="Montserrat Light" panose="00000400000000000000" pitchFamily="2" charset="0"/>
              </a:rPr>
              <a:t> </a:t>
            </a:r>
            <a:r>
              <a:rPr lang="it-IT" sz="1600" dirty="0" err="1">
                <a:latin typeface="Montserrat Light" panose="00000400000000000000" pitchFamily="2" charset="0"/>
              </a:rPr>
              <a:t>method</a:t>
            </a:r>
            <a:r>
              <a:rPr lang="it-IT" sz="1600" dirty="0">
                <a:latin typeface="Montserrat Light" panose="00000400000000000000" pitchFamily="2" charset="0"/>
              </a:rPr>
              <a:t> </a:t>
            </a:r>
            <a:r>
              <a:rPr lang="it-IT" sz="1600" dirty="0" err="1">
                <a:latin typeface="Montserrat Light" panose="00000400000000000000" pitchFamily="2" charset="0"/>
              </a:rPr>
              <a:t>encodes</a:t>
            </a:r>
            <a:r>
              <a:rPr lang="it-IT" sz="1600" dirty="0">
                <a:latin typeface="Montserrat Light" panose="00000400000000000000" pitchFamily="2" charset="0"/>
              </a:rPr>
              <a:t> </a:t>
            </a:r>
            <a:r>
              <a:rPr lang="it-IT" sz="1600" dirty="0" err="1">
                <a:latin typeface="Montserrat Light" panose="00000400000000000000" pitchFamily="2" charset="0"/>
              </a:rPr>
              <a:t>digital</a:t>
            </a:r>
            <a:r>
              <a:rPr lang="it-IT" sz="1600" dirty="0">
                <a:latin typeface="Montserrat Light" panose="00000400000000000000" pitchFamily="2" charset="0"/>
              </a:rPr>
              <a:t> data </a:t>
            </a:r>
            <a:r>
              <a:rPr lang="it-IT" sz="1600" dirty="0" err="1">
                <a:latin typeface="Montserrat Light" panose="00000400000000000000" pitchFamily="2" charset="0"/>
              </a:rPr>
              <a:t>differently</a:t>
            </a:r>
            <a:r>
              <a:rPr lang="it-IT" sz="1600" dirty="0">
                <a:latin typeface="Montserrat Light" panose="00000400000000000000" pitchFamily="2" charset="0"/>
              </a:rPr>
              <a:t> </a:t>
            </a:r>
            <a:r>
              <a:rPr lang="it-IT" sz="1600" dirty="0" err="1">
                <a:latin typeface="Montserrat Light" panose="00000400000000000000" pitchFamily="2" charset="0"/>
              </a:rPr>
              <a:t>onto</a:t>
            </a:r>
            <a:r>
              <a:rPr lang="it-IT" sz="1600" dirty="0">
                <a:latin typeface="Montserrat Light" panose="00000400000000000000" pitchFamily="2" charset="0"/>
              </a:rPr>
              <a:t> the carrier.</a:t>
            </a:r>
          </a:p>
          <a:p>
            <a:pPr marL="0" marR="38100" lvl="0" indent="0" algn="ctr" rtl="0">
              <a:lnSpc>
                <a:spcPct val="128571"/>
              </a:lnSpc>
              <a:spcBef>
                <a:spcPts val="0"/>
              </a:spcBef>
              <a:spcAft>
                <a:spcPts val="0"/>
              </a:spcAft>
              <a:buNone/>
            </a:pPr>
            <a:endParaRPr sz="1600" dirty="0">
              <a:solidFill>
                <a:schemeClr val="dk2"/>
              </a:solidFill>
              <a:latin typeface="Montserrat Light" panose="00000400000000000000" pitchFamily="2" charset="0"/>
              <a:ea typeface="Montserrat Light"/>
              <a:cs typeface="Montserrat Light"/>
              <a:sym typeface="Montserrat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9"/>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 name="Google Shape;206;p29"/>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dirty="0">
                <a:solidFill>
                  <a:schemeClr val="dk2"/>
                </a:solidFill>
                <a:latin typeface="Montserrat"/>
                <a:ea typeface="Montserrat"/>
                <a:cs typeface="Montserrat"/>
                <a:sym typeface="Montserrat"/>
              </a:rPr>
              <a:t>Modulation (Visual)</a:t>
            </a:r>
            <a:endParaRPr sz="3600" dirty="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dirty="0">
              <a:solidFill>
                <a:schemeClr val="dk2"/>
              </a:solidFill>
              <a:latin typeface="Montserrat"/>
              <a:ea typeface="Montserrat"/>
              <a:cs typeface="Montserrat"/>
              <a:sym typeface="Montserrat"/>
            </a:endParaRPr>
          </a:p>
        </p:txBody>
      </p:sp>
      <p:pic>
        <p:nvPicPr>
          <p:cNvPr id="207" name="Google Shape;207;p29"/>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208" name="Google Shape;208;p29"/>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209" name="Google Shape;209;p29"/>
          <p:cNvSpPr txBox="1"/>
          <p:nvPr/>
        </p:nvSpPr>
        <p:spPr>
          <a:xfrm>
            <a:off x="1405125" y="1428025"/>
            <a:ext cx="7400400" cy="446400"/>
          </a:xfrm>
          <a:prstGeom prst="rect">
            <a:avLst/>
          </a:prstGeom>
          <a:noFill/>
          <a:ln>
            <a:noFill/>
          </a:ln>
        </p:spPr>
        <p:txBody>
          <a:bodyPr spcFirstLastPara="1" wrap="square" lIns="91425" tIns="91425" rIns="91425" bIns="91425" anchor="t" anchorCtr="0">
            <a:spAutoFit/>
          </a:bodyPr>
          <a:lstStyle/>
          <a:p>
            <a:pPr marL="0" marR="38100" lvl="0" indent="0" algn="ctr" rtl="0">
              <a:lnSpc>
                <a:spcPct val="128571"/>
              </a:lnSpc>
              <a:spcBef>
                <a:spcPts val="0"/>
              </a:spcBef>
              <a:spcAft>
                <a:spcPts val="0"/>
              </a:spcAft>
              <a:buNone/>
            </a:pPr>
            <a:endParaRPr sz="1700">
              <a:solidFill>
                <a:schemeClr val="dk2"/>
              </a:solidFill>
              <a:latin typeface="Montserrat Light"/>
              <a:ea typeface="Montserrat Light"/>
              <a:cs typeface="Montserrat Light"/>
              <a:sym typeface="Montserrat Light"/>
            </a:endParaRPr>
          </a:p>
        </p:txBody>
      </p:sp>
      <p:pic>
        <p:nvPicPr>
          <p:cNvPr id="210" name="Google Shape;210;p29"/>
          <p:cNvPicPr preferRelativeResize="0"/>
          <p:nvPr/>
        </p:nvPicPr>
        <p:blipFill>
          <a:blip r:embed="rId5">
            <a:alphaModFix/>
          </a:blip>
          <a:stretch>
            <a:fillRect/>
          </a:stretch>
        </p:blipFill>
        <p:spPr>
          <a:xfrm>
            <a:off x="2205620" y="1311067"/>
            <a:ext cx="4924148" cy="3468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0"/>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 name="Google Shape;216;p30"/>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dirty="0">
                <a:solidFill>
                  <a:schemeClr val="dk2"/>
                </a:solidFill>
                <a:latin typeface="Montserrat"/>
                <a:ea typeface="Montserrat"/>
                <a:cs typeface="Montserrat"/>
                <a:sym typeface="Montserrat"/>
              </a:rPr>
              <a:t>Why Modulation Matters	</a:t>
            </a:r>
            <a:endParaRPr sz="3600" dirty="0">
              <a:solidFill>
                <a:schemeClr val="dk2"/>
              </a:solidFill>
              <a:latin typeface="Montserrat"/>
              <a:ea typeface="Montserrat"/>
              <a:cs typeface="Montserrat"/>
              <a:sym typeface="Montserrat"/>
            </a:endParaRPr>
          </a:p>
        </p:txBody>
      </p:sp>
      <p:pic>
        <p:nvPicPr>
          <p:cNvPr id="217" name="Google Shape;217;p30"/>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218" name="Google Shape;218;p30"/>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219" name="Google Shape;219;p30"/>
          <p:cNvSpPr txBox="1"/>
          <p:nvPr/>
        </p:nvSpPr>
        <p:spPr>
          <a:xfrm>
            <a:off x="1405125" y="1428025"/>
            <a:ext cx="7400400" cy="3385512"/>
          </a:xfrm>
          <a:prstGeom prst="rect">
            <a:avLst/>
          </a:prstGeom>
          <a:noFill/>
          <a:ln>
            <a:noFill/>
          </a:ln>
        </p:spPr>
        <p:txBody>
          <a:bodyPr spcFirstLastPara="1" wrap="square" lIns="91425" tIns="91425" rIns="91425" bIns="91425" anchor="t" anchorCtr="0">
            <a:spAutoFit/>
          </a:bodyPr>
          <a:lstStyle/>
          <a:p>
            <a:r>
              <a:rPr lang="en-US" sz="1600" dirty="0">
                <a:latin typeface="Montserrat Light" panose="00000400000000000000" pitchFamily="2" charset="0"/>
              </a:rPr>
              <a:t>The choice of modulation affects:</a:t>
            </a:r>
          </a:p>
          <a:p>
            <a:endParaRPr lang="en-US" sz="1600" dirty="0">
              <a:latin typeface="Montserrat Light" panose="00000400000000000000" pitchFamily="2" charset="0"/>
            </a:endParaRPr>
          </a:p>
          <a:p>
            <a:r>
              <a:rPr lang="en-US" sz="1600" b="1" dirty="0">
                <a:solidFill>
                  <a:srgbClr val="FFC000"/>
                </a:solidFill>
                <a:latin typeface="Montserrat" pitchFamily="2" charset="0"/>
              </a:rPr>
              <a:t>Bandwidth</a:t>
            </a:r>
            <a:br>
              <a:rPr lang="en-US" sz="1600" dirty="0">
                <a:latin typeface="Montserrat Light" panose="00000400000000000000" pitchFamily="2" charset="0"/>
              </a:rPr>
            </a:br>
            <a:r>
              <a:rPr lang="en-US" sz="1600" dirty="0">
                <a:latin typeface="Montserrat Light" panose="00000400000000000000" pitchFamily="2" charset="0"/>
              </a:rPr>
              <a:t>Higher data rates require larger bandwidth.</a:t>
            </a:r>
          </a:p>
          <a:p>
            <a:endParaRPr lang="en-US" sz="1600" dirty="0">
              <a:latin typeface="Montserrat Light" panose="00000400000000000000" pitchFamily="2" charset="0"/>
            </a:endParaRPr>
          </a:p>
          <a:p>
            <a:r>
              <a:rPr lang="en-US" sz="1600" b="1" dirty="0">
                <a:solidFill>
                  <a:srgbClr val="FFC000"/>
                </a:solidFill>
                <a:latin typeface="Montserrat" pitchFamily="2" charset="0"/>
              </a:rPr>
              <a:t>Noise Resistance</a:t>
            </a:r>
            <a:br>
              <a:rPr lang="en-US" sz="1600" dirty="0">
                <a:latin typeface="Montserrat Light" panose="00000400000000000000" pitchFamily="2" charset="0"/>
              </a:rPr>
            </a:br>
            <a:r>
              <a:rPr lang="en-US" sz="1600" dirty="0">
                <a:latin typeface="Montserrat Light" panose="00000400000000000000" pitchFamily="2" charset="0"/>
              </a:rPr>
              <a:t>Some modulation schemes are more robust against channel noise.</a:t>
            </a:r>
          </a:p>
          <a:p>
            <a:endParaRPr lang="en-US" sz="1600" dirty="0">
              <a:latin typeface="Montserrat Light" panose="00000400000000000000" pitchFamily="2" charset="0"/>
            </a:endParaRPr>
          </a:p>
          <a:p>
            <a:r>
              <a:rPr lang="en-US" sz="1600" b="1" dirty="0">
                <a:solidFill>
                  <a:srgbClr val="FFC000"/>
                </a:solidFill>
                <a:latin typeface="Montserrat" pitchFamily="2" charset="0"/>
              </a:rPr>
              <a:t>Complexity</a:t>
            </a:r>
            <a:br>
              <a:rPr lang="en-US" sz="1600" dirty="0">
                <a:latin typeface="Montserrat Light" panose="00000400000000000000" pitchFamily="2" charset="0"/>
              </a:rPr>
            </a:br>
            <a:r>
              <a:rPr lang="en-US" sz="1600" dirty="0">
                <a:latin typeface="Montserrat Light" panose="00000400000000000000" pitchFamily="2" charset="0"/>
              </a:rPr>
              <a:t>More advanced schemes require more complex hardware and signal processing.</a:t>
            </a:r>
          </a:p>
          <a:p>
            <a:endParaRPr lang="en-US" sz="1600" dirty="0">
              <a:latin typeface="Montserrat Light" panose="00000400000000000000" pitchFamily="2" charset="0"/>
            </a:endParaRPr>
          </a:p>
          <a:p>
            <a:r>
              <a:rPr lang="en-US" sz="1600" dirty="0">
                <a:latin typeface="Montserrat Light" panose="00000400000000000000" pitchFamily="2" charset="0"/>
              </a:rPr>
              <a:t>Trade-offs must be evaluated based on mission requirements.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1"/>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 name="Google Shape;225;p31"/>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Antennas</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226" name="Google Shape;226;p31"/>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227" name="Google Shape;227;p31"/>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228" name="Google Shape;228;p31"/>
          <p:cNvSpPr txBox="1"/>
          <p:nvPr/>
        </p:nvSpPr>
        <p:spPr>
          <a:xfrm>
            <a:off x="1426390" y="1099013"/>
            <a:ext cx="6728400" cy="4400085"/>
          </a:xfrm>
          <a:prstGeom prst="rect">
            <a:avLst/>
          </a:prstGeom>
          <a:noFill/>
          <a:ln>
            <a:noFill/>
          </a:ln>
        </p:spPr>
        <p:txBody>
          <a:bodyPr spcFirstLastPara="1" wrap="square" lIns="91425" tIns="91425" rIns="91425" bIns="91425" anchor="t" anchorCtr="0">
            <a:spAutoFit/>
          </a:bodyPr>
          <a:lstStyle/>
          <a:p>
            <a:r>
              <a:rPr lang="en-US" dirty="0">
                <a:latin typeface="Montserrat Light" panose="00000400000000000000" pitchFamily="2" charset="0"/>
              </a:rPr>
              <a:t>The antenna transmits and receives electromagnetic waves.</a:t>
            </a:r>
          </a:p>
          <a:p>
            <a:endParaRPr lang="en-US" dirty="0">
              <a:latin typeface="Montserrat Light" panose="00000400000000000000" pitchFamily="2" charset="0"/>
            </a:endParaRPr>
          </a:p>
          <a:p>
            <a:r>
              <a:rPr lang="en-US" dirty="0">
                <a:latin typeface="Montserrat Light" panose="00000400000000000000" pitchFamily="2" charset="0"/>
              </a:rPr>
              <a:t>Key antenna parameters:</a:t>
            </a:r>
          </a:p>
          <a:p>
            <a:endParaRPr lang="en-US" dirty="0">
              <a:latin typeface="Montserrat Light" panose="00000400000000000000" pitchFamily="2" charset="0"/>
            </a:endParaRPr>
          </a:p>
          <a:p>
            <a:r>
              <a:rPr lang="en-US" b="1" dirty="0">
                <a:solidFill>
                  <a:srgbClr val="FFC000"/>
                </a:solidFill>
                <a:latin typeface="Montserrat" pitchFamily="2" charset="0"/>
              </a:rPr>
              <a:t>Gain</a:t>
            </a:r>
            <a:br>
              <a:rPr lang="en-US" dirty="0">
                <a:latin typeface="Montserrat Light" panose="00000400000000000000" pitchFamily="2" charset="0"/>
              </a:rPr>
            </a:br>
            <a:r>
              <a:rPr lang="en-US" dirty="0">
                <a:latin typeface="Montserrat Light" panose="00000400000000000000" pitchFamily="2" charset="0"/>
              </a:rPr>
              <a:t>Indicates directionality and signal amplification.</a:t>
            </a:r>
          </a:p>
          <a:p>
            <a:endParaRPr lang="en-US" dirty="0">
              <a:latin typeface="Montserrat Light" panose="00000400000000000000" pitchFamily="2" charset="0"/>
            </a:endParaRPr>
          </a:p>
          <a:p>
            <a:r>
              <a:rPr lang="en-US" b="1" dirty="0">
                <a:solidFill>
                  <a:srgbClr val="FFC000"/>
                </a:solidFill>
                <a:latin typeface="Montserrat" pitchFamily="2" charset="0"/>
              </a:rPr>
              <a:t>Central Frequency</a:t>
            </a:r>
            <a:br>
              <a:rPr lang="en-US" dirty="0">
                <a:latin typeface="Montserrat Light" panose="00000400000000000000" pitchFamily="2" charset="0"/>
              </a:rPr>
            </a:br>
            <a:r>
              <a:rPr lang="en-US" dirty="0" err="1">
                <a:latin typeface="Montserrat Light" panose="00000400000000000000" pitchFamily="2" charset="0"/>
              </a:rPr>
              <a:t>Frequency</a:t>
            </a:r>
            <a:r>
              <a:rPr lang="en-US" dirty="0">
                <a:latin typeface="Montserrat Light" panose="00000400000000000000" pitchFamily="2" charset="0"/>
              </a:rPr>
              <a:t> at which the antenna is optimized.</a:t>
            </a:r>
          </a:p>
          <a:p>
            <a:endParaRPr lang="en-US" dirty="0">
              <a:latin typeface="Montserrat Light" panose="00000400000000000000" pitchFamily="2" charset="0"/>
            </a:endParaRPr>
          </a:p>
          <a:p>
            <a:r>
              <a:rPr lang="en-US" b="1" dirty="0">
                <a:solidFill>
                  <a:srgbClr val="FFC000"/>
                </a:solidFill>
                <a:latin typeface="Montserrat" pitchFamily="2" charset="0"/>
              </a:rPr>
              <a:t>Bandwidth</a:t>
            </a:r>
            <a:br>
              <a:rPr lang="en-US" dirty="0">
                <a:latin typeface="Montserrat Light" panose="00000400000000000000" pitchFamily="2" charset="0"/>
              </a:rPr>
            </a:br>
            <a:r>
              <a:rPr lang="en-US" dirty="0">
                <a:latin typeface="Montserrat Light" panose="00000400000000000000" pitchFamily="2" charset="0"/>
              </a:rPr>
              <a:t>Frequency range over which it operates efficiently.</a:t>
            </a:r>
          </a:p>
          <a:p>
            <a:endParaRPr lang="en-US" dirty="0">
              <a:latin typeface="Montserrat Light" panose="00000400000000000000" pitchFamily="2" charset="0"/>
            </a:endParaRPr>
          </a:p>
          <a:p>
            <a:r>
              <a:rPr lang="en-US" b="1" dirty="0">
                <a:solidFill>
                  <a:srgbClr val="FFC000"/>
                </a:solidFill>
                <a:latin typeface="Montserrat" pitchFamily="2" charset="0"/>
              </a:rPr>
              <a:t>Radiation Pattern</a:t>
            </a:r>
            <a:br>
              <a:rPr lang="en-US" dirty="0">
                <a:latin typeface="Montserrat Light" panose="00000400000000000000" pitchFamily="2" charset="0"/>
              </a:rPr>
            </a:br>
            <a:r>
              <a:rPr lang="en-US" dirty="0">
                <a:latin typeface="Montserrat Light" panose="00000400000000000000" pitchFamily="2" charset="0"/>
              </a:rPr>
              <a:t>Spatial distribution of transmitted power.</a:t>
            </a:r>
          </a:p>
          <a:p>
            <a:endParaRPr lang="en-US" dirty="0">
              <a:latin typeface="Montserrat Light" panose="00000400000000000000" pitchFamily="2" charset="0"/>
            </a:endParaRPr>
          </a:p>
          <a:p>
            <a:r>
              <a:rPr lang="en-US" b="1" dirty="0">
                <a:solidFill>
                  <a:srgbClr val="FFC000"/>
                </a:solidFill>
                <a:latin typeface="Montserrat" pitchFamily="2" charset="0"/>
              </a:rPr>
              <a:t>Polarization</a:t>
            </a:r>
            <a:br>
              <a:rPr lang="en-US" dirty="0">
                <a:latin typeface="Montserrat Light" panose="00000400000000000000" pitchFamily="2" charset="0"/>
              </a:rPr>
            </a:br>
            <a:r>
              <a:rPr lang="en-US" dirty="0">
                <a:latin typeface="Montserrat Light" panose="00000400000000000000" pitchFamily="2" charset="0"/>
              </a:rPr>
              <a:t>Orientation of the electric field.</a:t>
            </a:r>
          </a:p>
          <a:p>
            <a:pPr marL="0" marR="38100" lvl="0" indent="0" algn="ctr" rtl="0">
              <a:lnSpc>
                <a:spcPct val="128571"/>
              </a:lnSpc>
              <a:spcBef>
                <a:spcPts val="0"/>
              </a:spcBef>
              <a:spcAft>
                <a:spcPts val="0"/>
              </a:spcAft>
              <a:buNone/>
            </a:pPr>
            <a:endParaRPr sz="1700" dirty="0">
              <a:solidFill>
                <a:schemeClr val="dk2"/>
              </a:solidFill>
              <a:latin typeface="Montserrat Light" panose="00000400000000000000" pitchFamily="2" charset="0"/>
              <a:ea typeface="Montserrat Light"/>
              <a:cs typeface="Montserrat Light"/>
              <a:sym typeface="Montserrat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2"/>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 name="Google Shape;234;p32"/>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Monopole antenna</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235" name="Google Shape;235;p32"/>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236" name="Google Shape;236;p32"/>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237" name="Google Shape;237;p32"/>
          <p:cNvSpPr txBox="1"/>
          <p:nvPr/>
        </p:nvSpPr>
        <p:spPr>
          <a:xfrm>
            <a:off x="1405125" y="1428025"/>
            <a:ext cx="5245200" cy="2400627"/>
          </a:xfrm>
          <a:prstGeom prst="rect">
            <a:avLst/>
          </a:prstGeom>
          <a:noFill/>
          <a:ln>
            <a:noFill/>
          </a:ln>
        </p:spPr>
        <p:txBody>
          <a:bodyPr spcFirstLastPara="1" wrap="square" lIns="91425" tIns="91425" rIns="91425" bIns="91425" anchor="t" anchorCtr="0">
            <a:spAutoFit/>
          </a:bodyPr>
          <a:lstStyle/>
          <a:p>
            <a:r>
              <a:rPr lang="en-US" sz="1600" dirty="0">
                <a:latin typeface="Montserrat Light" panose="00000400000000000000" pitchFamily="2" charset="0"/>
              </a:rPr>
              <a:t>A monopole antenna is an omnidirectional antenna commonly used in low-frequency CubeSat missions.</a:t>
            </a:r>
          </a:p>
          <a:p>
            <a:endParaRPr lang="en-US" sz="1600" dirty="0">
              <a:latin typeface="Montserrat Light" panose="00000400000000000000" pitchFamily="2" charset="0"/>
            </a:endParaRPr>
          </a:p>
          <a:p>
            <a:r>
              <a:rPr lang="en-US" sz="1600" dirty="0">
                <a:latin typeface="Montserrat Light" panose="00000400000000000000" pitchFamily="2" charset="0"/>
              </a:rPr>
              <a:t>Key characteristics:</a:t>
            </a:r>
          </a:p>
          <a:p>
            <a:r>
              <a:rPr lang="en-US" sz="1600" dirty="0">
                <a:latin typeface="Montserrat Light" panose="00000400000000000000" pitchFamily="2" charset="0"/>
              </a:rPr>
              <a:t>• Nearly uniform radiation in all horizontal directions</a:t>
            </a:r>
            <a:br>
              <a:rPr lang="en-US" sz="1600" dirty="0">
                <a:latin typeface="Montserrat Light" panose="00000400000000000000" pitchFamily="2" charset="0"/>
              </a:rPr>
            </a:br>
            <a:r>
              <a:rPr lang="en-US" sz="1600" dirty="0">
                <a:latin typeface="Montserrat Light" panose="00000400000000000000" pitchFamily="2" charset="0"/>
              </a:rPr>
              <a:t>• Typical gain ≈ </a:t>
            </a:r>
            <a:r>
              <a:rPr lang="en-US" sz="1600" b="1" dirty="0">
                <a:solidFill>
                  <a:srgbClr val="FFC000"/>
                </a:solidFill>
                <a:latin typeface="Montserrat" pitchFamily="2" charset="0"/>
              </a:rPr>
              <a:t>0 </a:t>
            </a:r>
            <a:r>
              <a:rPr lang="en-US" sz="1600" b="1" dirty="0" err="1">
                <a:solidFill>
                  <a:srgbClr val="FFC000"/>
                </a:solidFill>
                <a:latin typeface="Montserrat" pitchFamily="2" charset="0"/>
              </a:rPr>
              <a:t>dBi</a:t>
            </a:r>
            <a:br>
              <a:rPr lang="en-US" sz="1600" dirty="0">
                <a:latin typeface="Montserrat Light" panose="00000400000000000000" pitchFamily="2" charset="0"/>
              </a:rPr>
            </a:br>
            <a:r>
              <a:rPr lang="en-US" sz="1600" dirty="0">
                <a:latin typeface="Montserrat Light" panose="00000400000000000000" pitchFamily="2" charset="0"/>
              </a:rPr>
              <a:t>• Simple design and lightweight</a:t>
            </a:r>
          </a:p>
        </p:txBody>
      </p:sp>
      <p:pic>
        <p:nvPicPr>
          <p:cNvPr id="238" name="Google Shape;238;p32"/>
          <p:cNvPicPr preferRelativeResize="0"/>
          <p:nvPr/>
        </p:nvPicPr>
        <p:blipFill>
          <a:blip r:embed="rId5">
            <a:alphaModFix/>
          </a:blip>
          <a:stretch>
            <a:fillRect/>
          </a:stretch>
        </p:blipFill>
        <p:spPr>
          <a:xfrm>
            <a:off x="5953950" y="1428025"/>
            <a:ext cx="2964275" cy="2964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3"/>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33"/>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Dipole antenna</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245" name="Google Shape;245;p33"/>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246" name="Google Shape;246;p33"/>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247" name="Google Shape;247;p33"/>
          <p:cNvSpPr txBox="1"/>
          <p:nvPr/>
        </p:nvSpPr>
        <p:spPr>
          <a:xfrm>
            <a:off x="1349325" y="1419000"/>
            <a:ext cx="7307100" cy="1477297"/>
          </a:xfrm>
          <a:prstGeom prst="rect">
            <a:avLst/>
          </a:prstGeom>
          <a:noFill/>
          <a:ln>
            <a:noFill/>
          </a:ln>
        </p:spPr>
        <p:txBody>
          <a:bodyPr spcFirstLastPara="1" wrap="square" lIns="91425" tIns="91425" rIns="91425" bIns="91425" anchor="t" anchorCtr="0">
            <a:spAutoFit/>
          </a:bodyPr>
          <a:lstStyle/>
          <a:p>
            <a:r>
              <a:rPr lang="en-US" dirty="0">
                <a:latin typeface="Montserrat Light" panose="00000400000000000000" pitchFamily="2" charset="0"/>
              </a:rPr>
              <a:t>A dipole antenna consists of two conductive elements.</a:t>
            </a:r>
          </a:p>
          <a:p>
            <a:endParaRPr lang="en-US" dirty="0">
              <a:latin typeface="Montserrat Light" panose="00000400000000000000" pitchFamily="2" charset="0"/>
            </a:endParaRPr>
          </a:p>
          <a:p>
            <a:r>
              <a:rPr lang="en-US" dirty="0">
                <a:latin typeface="Montserrat Light" panose="00000400000000000000" pitchFamily="2" charset="0"/>
              </a:rPr>
              <a:t>Key properties:</a:t>
            </a:r>
          </a:p>
          <a:p>
            <a:r>
              <a:rPr lang="en-US" dirty="0">
                <a:latin typeface="Montserrat Light" panose="00000400000000000000" pitchFamily="2" charset="0"/>
              </a:rPr>
              <a:t>• Theoretical gain ≈ </a:t>
            </a:r>
            <a:r>
              <a:rPr lang="en-US" b="1" dirty="0">
                <a:solidFill>
                  <a:srgbClr val="FFC000"/>
                </a:solidFill>
                <a:latin typeface="Montserrat" pitchFamily="2" charset="0"/>
              </a:rPr>
              <a:t>2.15 </a:t>
            </a:r>
            <a:r>
              <a:rPr lang="en-US" b="1" dirty="0" err="1">
                <a:solidFill>
                  <a:srgbClr val="FFC000"/>
                </a:solidFill>
                <a:latin typeface="Montserrat" pitchFamily="2" charset="0"/>
              </a:rPr>
              <a:t>dBi</a:t>
            </a:r>
            <a:br>
              <a:rPr lang="en-US" dirty="0">
                <a:latin typeface="Montserrat Light" panose="00000400000000000000" pitchFamily="2" charset="0"/>
              </a:rPr>
            </a:br>
            <a:r>
              <a:rPr lang="en-US" dirty="0">
                <a:latin typeface="Montserrat Light" panose="00000400000000000000" pitchFamily="2" charset="0"/>
              </a:rPr>
              <a:t>• Omnidirectional in the plane perpendicular to the elements</a:t>
            </a:r>
            <a:br>
              <a:rPr lang="en-US" dirty="0">
                <a:latin typeface="Montserrat Light" panose="00000400000000000000" pitchFamily="2" charset="0"/>
              </a:rPr>
            </a:br>
            <a:r>
              <a:rPr lang="en-US" dirty="0">
                <a:latin typeface="Montserrat Light" panose="00000400000000000000" pitchFamily="2" charset="0"/>
              </a:rPr>
              <a:t>• Null radiation along the axis of the antenna</a:t>
            </a:r>
          </a:p>
        </p:txBody>
      </p:sp>
      <p:pic>
        <p:nvPicPr>
          <p:cNvPr id="248" name="Google Shape;248;p33"/>
          <p:cNvPicPr preferRelativeResize="0"/>
          <p:nvPr/>
        </p:nvPicPr>
        <p:blipFill rotWithShape="1">
          <a:blip r:embed="rId5">
            <a:alphaModFix/>
          </a:blip>
          <a:srcRect t="25417"/>
          <a:stretch/>
        </p:blipFill>
        <p:spPr>
          <a:xfrm>
            <a:off x="5897959" y="3449599"/>
            <a:ext cx="1799800" cy="1342300"/>
          </a:xfrm>
          <a:prstGeom prst="rect">
            <a:avLst/>
          </a:prstGeom>
          <a:noFill/>
          <a:ln>
            <a:noFill/>
          </a:ln>
        </p:spPr>
      </p:pic>
      <p:pic>
        <p:nvPicPr>
          <p:cNvPr id="249" name="Google Shape;249;p33"/>
          <p:cNvPicPr preferRelativeResize="0"/>
          <p:nvPr/>
        </p:nvPicPr>
        <p:blipFill>
          <a:blip r:embed="rId6">
            <a:alphaModFix/>
          </a:blip>
          <a:stretch>
            <a:fillRect/>
          </a:stretch>
        </p:blipFill>
        <p:spPr>
          <a:xfrm>
            <a:off x="1795200" y="3321813"/>
            <a:ext cx="2972600" cy="1204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5"/>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6" name="Google Shape;266;p35"/>
          <p:cNvSpPr txBox="1">
            <a:spLocks noGrp="1"/>
          </p:cNvSpPr>
          <p:nvPr>
            <p:ph type="ctrTitle" idx="4294967295"/>
          </p:nvPr>
        </p:nvSpPr>
        <p:spPr>
          <a:xfrm>
            <a:off x="1304550" y="441725"/>
            <a:ext cx="68298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dirty="0">
                <a:solidFill>
                  <a:schemeClr val="dk2"/>
                </a:solidFill>
                <a:latin typeface="Montserrat"/>
                <a:ea typeface="Montserrat"/>
                <a:cs typeface="Montserrat"/>
                <a:sym typeface="Montserrat"/>
              </a:rPr>
              <a:t>CubeSat Dipole Antenna</a:t>
            </a:r>
            <a:endParaRPr sz="3600" dirty="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dirty="0">
              <a:solidFill>
                <a:schemeClr val="dk2"/>
              </a:solidFill>
              <a:latin typeface="Montserrat"/>
              <a:ea typeface="Montserrat"/>
              <a:cs typeface="Montserrat"/>
              <a:sym typeface="Montserrat"/>
            </a:endParaRPr>
          </a:p>
        </p:txBody>
      </p:sp>
      <p:pic>
        <p:nvPicPr>
          <p:cNvPr id="267" name="Google Shape;267;p35"/>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268" name="Google Shape;268;p35"/>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269" name="Google Shape;269;p35"/>
          <p:cNvSpPr txBox="1"/>
          <p:nvPr/>
        </p:nvSpPr>
        <p:spPr>
          <a:xfrm>
            <a:off x="1405125" y="1428025"/>
            <a:ext cx="6534900" cy="4364700"/>
          </a:xfrm>
          <a:prstGeom prst="rect">
            <a:avLst/>
          </a:prstGeom>
          <a:noFill/>
          <a:ln>
            <a:noFill/>
          </a:ln>
        </p:spPr>
        <p:txBody>
          <a:bodyPr spcFirstLastPara="1" wrap="square" lIns="91425" tIns="91425" rIns="91425" bIns="91425" anchor="t" anchorCtr="0">
            <a:spAutoFit/>
          </a:bodyPr>
          <a:lstStyle/>
          <a:p>
            <a:pPr marL="0" lvl="0" indent="0" algn="l" rtl="0">
              <a:lnSpc>
                <a:spcPct val="128571"/>
              </a:lnSpc>
              <a:spcBef>
                <a:spcPts val="0"/>
              </a:spcBef>
              <a:spcAft>
                <a:spcPts val="0"/>
              </a:spcAft>
              <a:buNone/>
            </a:pPr>
            <a:endParaRPr sz="2100">
              <a:solidFill>
                <a:srgbClr val="202124"/>
              </a:solidFill>
              <a:highlight>
                <a:srgbClr val="FFFFFF"/>
              </a:highlight>
            </a:endParaRPr>
          </a:p>
          <a:p>
            <a:pPr marL="0" lvl="0" indent="0" algn="l" rtl="0">
              <a:lnSpc>
                <a:spcPct val="128571"/>
              </a:lnSpc>
              <a:spcBef>
                <a:spcPts val="0"/>
              </a:spcBef>
              <a:spcAft>
                <a:spcPts val="0"/>
              </a:spcAft>
              <a:buNone/>
            </a:pPr>
            <a:endParaRPr sz="2100">
              <a:solidFill>
                <a:srgbClr val="202124"/>
              </a:solidFill>
              <a:highlight>
                <a:srgbClr val="FFFFFF"/>
              </a:highlight>
            </a:endParaRPr>
          </a:p>
          <a:p>
            <a:pPr marL="0" lvl="0" indent="0" algn="l" rtl="0">
              <a:lnSpc>
                <a:spcPct val="128571"/>
              </a:lnSpc>
              <a:spcBef>
                <a:spcPts val="0"/>
              </a:spcBef>
              <a:spcAft>
                <a:spcPts val="0"/>
              </a:spcAft>
              <a:buNone/>
            </a:pPr>
            <a:endParaRPr sz="2100">
              <a:solidFill>
                <a:srgbClr val="202124"/>
              </a:solidFill>
              <a:highlight>
                <a:srgbClr val="FFFFFF"/>
              </a:highlight>
            </a:endParaRPr>
          </a:p>
          <a:p>
            <a:pPr marL="0" lvl="0" indent="0" algn="l" rtl="0">
              <a:lnSpc>
                <a:spcPct val="128571"/>
              </a:lnSpc>
              <a:spcBef>
                <a:spcPts val="0"/>
              </a:spcBef>
              <a:spcAft>
                <a:spcPts val="0"/>
              </a:spcAft>
              <a:buNone/>
            </a:pPr>
            <a:endParaRPr sz="2100">
              <a:solidFill>
                <a:srgbClr val="202124"/>
              </a:solidFill>
              <a:highlight>
                <a:srgbClr val="FFFFFF"/>
              </a:highlight>
            </a:endParaRPr>
          </a:p>
          <a:p>
            <a:pPr marL="0" lvl="0" indent="0" algn="l" rtl="0">
              <a:lnSpc>
                <a:spcPct val="128571"/>
              </a:lnSpc>
              <a:spcBef>
                <a:spcPts val="0"/>
              </a:spcBef>
              <a:spcAft>
                <a:spcPts val="0"/>
              </a:spcAft>
              <a:buNone/>
            </a:pPr>
            <a:endParaRPr sz="2100">
              <a:solidFill>
                <a:srgbClr val="202124"/>
              </a:solidFill>
              <a:highlight>
                <a:srgbClr val="FFFFFF"/>
              </a:highlight>
            </a:endParaRPr>
          </a:p>
          <a:p>
            <a:pPr marL="0" lvl="0" indent="0" algn="l" rtl="0">
              <a:lnSpc>
                <a:spcPct val="128571"/>
              </a:lnSpc>
              <a:spcBef>
                <a:spcPts val="0"/>
              </a:spcBef>
              <a:spcAft>
                <a:spcPts val="0"/>
              </a:spcAft>
              <a:buNone/>
            </a:pPr>
            <a:endParaRPr sz="2100">
              <a:solidFill>
                <a:srgbClr val="202124"/>
              </a:solidFill>
              <a:highlight>
                <a:srgbClr val="FFFFFF"/>
              </a:highlight>
            </a:endParaRPr>
          </a:p>
          <a:p>
            <a:pPr marL="0" lvl="0" indent="0" algn="l" rtl="0">
              <a:lnSpc>
                <a:spcPct val="128571"/>
              </a:lnSpc>
              <a:spcBef>
                <a:spcPts val="0"/>
              </a:spcBef>
              <a:spcAft>
                <a:spcPts val="0"/>
              </a:spcAft>
              <a:buNone/>
            </a:pPr>
            <a:endParaRPr sz="2100">
              <a:solidFill>
                <a:srgbClr val="202124"/>
              </a:solidFill>
              <a:highlight>
                <a:srgbClr val="FFFFFF"/>
              </a:highlight>
            </a:endParaRPr>
          </a:p>
          <a:p>
            <a:pPr marL="0" lvl="0" indent="0" algn="l" rtl="0">
              <a:lnSpc>
                <a:spcPct val="128571"/>
              </a:lnSpc>
              <a:spcBef>
                <a:spcPts val="0"/>
              </a:spcBef>
              <a:spcAft>
                <a:spcPts val="0"/>
              </a:spcAft>
              <a:buNone/>
            </a:pPr>
            <a:r>
              <a:rPr lang="it" sz="1700">
                <a:solidFill>
                  <a:srgbClr val="202124"/>
                </a:solidFill>
                <a:highlight>
                  <a:srgbClr val="FFFFFF"/>
                </a:highlight>
                <a:latin typeface="Montserrat Light"/>
                <a:ea typeface="Montserrat Light"/>
                <a:cs typeface="Montserrat Light"/>
                <a:sym typeface="Montserrat Light"/>
              </a:rPr>
              <a:t>KySat-1</a:t>
            </a:r>
            <a:endParaRPr sz="1700">
              <a:solidFill>
                <a:srgbClr val="202124"/>
              </a:solidFill>
              <a:highlight>
                <a:srgbClr val="FFFFFF"/>
              </a:highlight>
              <a:latin typeface="Montserrat Light"/>
              <a:ea typeface="Montserrat Light"/>
              <a:cs typeface="Montserrat Light"/>
              <a:sym typeface="Montserrat Light"/>
            </a:endParaRPr>
          </a:p>
          <a:p>
            <a:pPr marL="0" marR="38100" lvl="0" indent="0" algn="l" rtl="0">
              <a:lnSpc>
                <a:spcPct val="128571"/>
              </a:lnSpc>
              <a:spcBef>
                <a:spcPts val="0"/>
              </a:spcBef>
              <a:spcAft>
                <a:spcPts val="0"/>
              </a:spcAft>
              <a:buNone/>
            </a:pPr>
            <a:endParaRPr sz="1700">
              <a:solidFill>
                <a:schemeClr val="dk2"/>
              </a:solidFill>
              <a:latin typeface="Montserrat Light"/>
              <a:ea typeface="Montserrat Light"/>
              <a:cs typeface="Montserrat Light"/>
              <a:sym typeface="Montserrat Light"/>
            </a:endParaRPr>
          </a:p>
          <a:p>
            <a:pPr marL="0" marR="38100" lvl="0" indent="0" algn="l" rtl="0">
              <a:lnSpc>
                <a:spcPct val="128571"/>
              </a:lnSpc>
              <a:spcBef>
                <a:spcPts val="0"/>
              </a:spcBef>
              <a:spcAft>
                <a:spcPts val="0"/>
              </a:spcAft>
              <a:buNone/>
            </a:pPr>
            <a:endParaRPr sz="1700">
              <a:solidFill>
                <a:schemeClr val="dk2"/>
              </a:solidFill>
              <a:latin typeface="Montserrat Light"/>
              <a:ea typeface="Montserrat Light"/>
              <a:cs typeface="Montserrat Light"/>
              <a:sym typeface="Montserrat Light"/>
            </a:endParaRPr>
          </a:p>
          <a:p>
            <a:pPr marL="0" marR="38100" lvl="0" indent="0" algn="l" rtl="0">
              <a:lnSpc>
                <a:spcPct val="128571"/>
              </a:lnSpc>
              <a:spcBef>
                <a:spcPts val="0"/>
              </a:spcBef>
              <a:spcAft>
                <a:spcPts val="0"/>
              </a:spcAft>
              <a:buNone/>
            </a:pPr>
            <a:endParaRPr sz="1700">
              <a:solidFill>
                <a:schemeClr val="dk2"/>
              </a:solidFill>
              <a:latin typeface="Montserrat Light"/>
              <a:ea typeface="Montserrat Light"/>
              <a:cs typeface="Montserrat Light"/>
              <a:sym typeface="Montserrat Light"/>
            </a:endParaRPr>
          </a:p>
        </p:txBody>
      </p:sp>
      <p:pic>
        <p:nvPicPr>
          <p:cNvPr id="270" name="Google Shape;270;p35"/>
          <p:cNvPicPr preferRelativeResize="0"/>
          <p:nvPr/>
        </p:nvPicPr>
        <p:blipFill>
          <a:blip r:embed="rId5">
            <a:alphaModFix/>
          </a:blip>
          <a:stretch>
            <a:fillRect/>
          </a:stretch>
        </p:blipFill>
        <p:spPr>
          <a:xfrm>
            <a:off x="3170225" y="1428025"/>
            <a:ext cx="3004701" cy="3232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4"/>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 name="Google Shape;255;p34"/>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a:solidFill>
                  <a:schemeClr val="dk2"/>
                </a:solidFill>
                <a:latin typeface="Montserrat"/>
                <a:ea typeface="Montserrat"/>
                <a:cs typeface="Montserrat"/>
                <a:sym typeface="Montserrat"/>
              </a:rPr>
              <a:t>Parabolic antenna</a:t>
            </a:r>
            <a:endParaRPr sz="360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a:solidFill>
                <a:schemeClr val="dk2"/>
              </a:solidFill>
              <a:latin typeface="Montserrat"/>
              <a:ea typeface="Montserrat"/>
              <a:cs typeface="Montserrat"/>
              <a:sym typeface="Montserrat"/>
            </a:endParaRPr>
          </a:p>
        </p:txBody>
      </p:sp>
      <p:pic>
        <p:nvPicPr>
          <p:cNvPr id="256" name="Google Shape;256;p34"/>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257" name="Google Shape;257;p34"/>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258" name="Google Shape;258;p34"/>
          <p:cNvSpPr txBox="1"/>
          <p:nvPr/>
        </p:nvSpPr>
        <p:spPr>
          <a:xfrm>
            <a:off x="1431706" y="1249326"/>
            <a:ext cx="4701000" cy="3875774"/>
          </a:xfrm>
          <a:prstGeom prst="rect">
            <a:avLst/>
          </a:prstGeom>
          <a:noFill/>
          <a:ln>
            <a:noFill/>
          </a:ln>
        </p:spPr>
        <p:txBody>
          <a:bodyPr spcFirstLastPara="1" wrap="square" lIns="91425" tIns="91425" rIns="91425" bIns="91425" anchor="t" anchorCtr="0">
            <a:spAutoFit/>
          </a:bodyPr>
          <a:lstStyle/>
          <a:p>
            <a:r>
              <a:rPr lang="en-US" dirty="0">
                <a:latin typeface="Montserrat Light" panose="00000400000000000000" pitchFamily="2" charset="0"/>
              </a:rPr>
              <a:t>Parabolic antennas are high-gain, highly directional antennas.</a:t>
            </a:r>
          </a:p>
          <a:p>
            <a:endParaRPr lang="en-US" dirty="0">
              <a:latin typeface="Montserrat Light" panose="00000400000000000000" pitchFamily="2" charset="0"/>
            </a:endParaRPr>
          </a:p>
          <a:p>
            <a:r>
              <a:rPr lang="en-US" dirty="0">
                <a:latin typeface="Montserrat Light" panose="00000400000000000000" pitchFamily="2" charset="0"/>
              </a:rPr>
              <a:t>They are typically used at frequencies above 2 GHz.</a:t>
            </a:r>
          </a:p>
          <a:p>
            <a:endParaRPr lang="en-US" dirty="0">
              <a:latin typeface="Montserrat Light" panose="00000400000000000000" pitchFamily="2" charset="0"/>
            </a:endParaRPr>
          </a:p>
          <a:p>
            <a:r>
              <a:rPr lang="en-US" dirty="0">
                <a:latin typeface="Montserrat Light" panose="00000400000000000000" pitchFamily="2" charset="0"/>
              </a:rPr>
              <a:t>Gain depends on:</a:t>
            </a:r>
          </a:p>
          <a:p>
            <a:r>
              <a:rPr lang="en-US" dirty="0">
                <a:latin typeface="Montserrat Light" panose="00000400000000000000" pitchFamily="2" charset="0"/>
              </a:rPr>
              <a:t>• Frequency</a:t>
            </a:r>
            <a:br>
              <a:rPr lang="en-US" dirty="0">
                <a:latin typeface="Montserrat Light" panose="00000400000000000000" pitchFamily="2" charset="0"/>
              </a:rPr>
            </a:br>
            <a:r>
              <a:rPr lang="en-US" dirty="0">
                <a:latin typeface="Montserrat Light" panose="00000400000000000000" pitchFamily="2" charset="0"/>
              </a:rPr>
              <a:t>• Reflector diameter</a:t>
            </a:r>
          </a:p>
          <a:p>
            <a:endParaRPr lang="en-US" dirty="0">
              <a:latin typeface="Montserrat Light" panose="00000400000000000000" pitchFamily="2" charset="0"/>
            </a:endParaRPr>
          </a:p>
          <a:p>
            <a:r>
              <a:rPr lang="en-US" dirty="0">
                <a:latin typeface="Montserrat Light" panose="00000400000000000000" pitchFamily="2" charset="0"/>
              </a:rPr>
              <a:t>The gain increases with both higher frequency and larger diameter.</a:t>
            </a:r>
          </a:p>
          <a:p>
            <a:endParaRPr lang="en-US" dirty="0">
              <a:latin typeface="Montserrat Light" panose="00000400000000000000" pitchFamily="2" charset="0"/>
            </a:endParaRPr>
          </a:p>
          <a:p>
            <a:r>
              <a:rPr lang="en-US" dirty="0">
                <a:latin typeface="Montserrat Light" panose="00000400000000000000" pitchFamily="2" charset="0"/>
              </a:rPr>
              <a:t>Parabolic antennas are commonly used in ground stations and </a:t>
            </a:r>
            <a:r>
              <a:rPr lang="en-US" b="1" dirty="0">
                <a:solidFill>
                  <a:srgbClr val="FFC000"/>
                </a:solidFill>
                <a:latin typeface="Montserrat" pitchFamily="2" charset="0"/>
              </a:rPr>
              <a:t>deep-space communication</a:t>
            </a:r>
            <a:r>
              <a:rPr lang="en-US" dirty="0">
                <a:latin typeface="Montserrat Light" panose="00000400000000000000" pitchFamily="2" charset="0"/>
              </a:rPr>
              <a:t>.</a:t>
            </a:r>
          </a:p>
          <a:p>
            <a:pPr marL="0" marR="38100" lvl="0" indent="0" algn="l" rtl="0">
              <a:lnSpc>
                <a:spcPct val="128571"/>
              </a:lnSpc>
              <a:spcBef>
                <a:spcPts val="0"/>
              </a:spcBef>
              <a:spcAft>
                <a:spcPts val="0"/>
              </a:spcAft>
              <a:buNone/>
            </a:pPr>
            <a:endParaRPr sz="1700" dirty="0">
              <a:solidFill>
                <a:schemeClr val="dk2"/>
              </a:solidFill>
              <a:latin typeface="Montserrat Light" panose="00000400000000000000" pitchFamily="2" charset="0"/>
              <a:ea typeface="Montserrat Light"/>
              <a:cs typeface="Montserrat Light"/>
              <a:sym typeface="Montserrat Light"/>
            </a:endParaRPr>
          </a:p>
          <a:p>
            <a:pPr marL="0" marR="38100" lvl="0" indent="0" algn="l" rtl="0">
              <a:lnSpc>
                <a:spcPct val="128571"/>
              </a:lnSpc>
              <a:spcBef>
                <a:spcPts val="0"/>
              </a:spcBef>
              <a:spcAft>
                <a:spcPts val="0"/>
              </a:spcAft>
              <a:buNone/>
            </a:pPr>
            <a:endParaRPr sz="1700" dirty="0">
              <a:solidFill>
                <a:schemeClr val="dk2"/>
              </a:solidFill>
              <a:latin typeface="Montserrat Light" panose="00000400000000000000" pitchFamily="2" charset="0"/>
              <a:ea typeface="Montserrat Light"/>
              <a:cs typeface="Montserrat Light"/>
              <a:sym typeface="Montserrat Light"/>
            </a:endParaRPr>
          </a:p>
        </p:txBody>
      </p:sp>
      <p:pic>
        <p:nvPicPr>
          <p:cNvPr id="259" name="Google Shape;259;p34"/>
          <p:cNvPicPr preferRelativeResize="0"/>
          <p:nvPr/>
        </p:nvPicPr>
        <p:blipFill>
          <a:blip r:embed="rId5">
            <a:alphaModFix/>
          </a:blip>
          <a:stretch>
            <a:fillRect/>
          </a:stretch>
        </p:blipFill>
        <p:spPr>
          <a:xfrm>
            <a:off x="6415500" y="1428025"/>
            <a:ext cx="2326277" cy="2196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6"/>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6" name="Google Shape;276;p36"/>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dirty="0">
                <a:solidFill>
                  <a:schemeClr val="dk2"/>
                </a:solidFill>
                <a:latin typeface="Montserrat"/>
                <a:ea typeface="Montserrat"/>
                <a:cs typeface="Montserrat"/>
                <a:sym typeface="Montserrat"/>
              </a:rPr>
              <a:t>CubeSat Turnstile Antenna</a:t>
            </a:r>
            <a:endParaRPr sz="3600" dirty="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dirty="0">
              <a:solidFill>
                <a:schemeClr val="dk2"/>
              </a:solidFill>
              <a:latin typeface="Montserrat"/>
              <a:ea typeface="Montserrat"/>
              <a:cs typeface="Montserrat"/>
              <a:sym typeface="Montserrat"/>
            </a:endParaRPr>
          </a:p>
        </p:txBody>
      </p:sp>
      <p:pic>
        <p:nvPicPr>
          <p:cNvPr id="277" name="Google Shape;277;p36"/>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278" name="Google Shape;278;p36"/>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279" name="Google Shape;279;p36"/>
          <p:cNvSpPr txBox="1"/>
          <p:nvPr/>
        </p:nvSpPr>
        <p:spPr>
          <a:xfrm>
            <a:off x="1304550" y="1300050"/>
            <a:ext cx="3395041" cy="3756639"/>
          </a:xfrm>
          <a:prstGeom prst="rect">
            <a:avLst/>
          </a:prstGeom>
          <a:noFill/>
          <a:ln>
            <a:noFill/>
          </a:ln>
        </p:spPr>
        <p:txBody>
          <a:bodyPr spcFirstLastPara="1" wrap="square" lIns="91425" tIns="91425" rIns="91425" bIns="91425" anchor="t" anchorCtr="0">
            <a:spAutoFit/>
          </a:bodyPr>
          <a:lstStyle/>
          <a:p>
            <a:r>
              <a:rPr lang="en-US" dirty="0">
                <a:latin typeface="Montserrat Light" panose="00000400000000000000" pitchFamily="2" charset="0"/>
              </a:rPr>
              <a:t>A turnstile antenna consists of two dipoles arranged orthogonally.</a:t>
            </a:r>
          </a:p>
          <a:p>
            <a:endParaRPr lang="en-US" dirty="0">
              <a:latin typeface="Montserrat Light" panose="00000400000000000000" pitchFamily="2" charset="0"/>
            </a:endParaRPr>
          </a:p>
          <a:p>
            <a:r>
              <a:rPr lang="en-US" dirty="0">
                <a:latin typeface="Montserrat Light" panose="00000400000000000000" pitchFamily="2" charset="0"/>
              </a:rPr>
              <a:t>Main advantage is the </a:t>
            </a:r>
            <a:r>
              <a:rPr lang="en-US" b="1" dirty="0">
                <a:solidFill>
                  <a:srgbClr val="FFC000"/>
                </a:solidFill>
                <a:latin typeface="Montserrat" pitchFamily="2" charset="0"/>
              </a:rPr>
              <a:t>circular polarization.</a:t>
            </a:r>
          </a:p>
          <a:p>
            <a:endParaRPr lang="en-US" dirty="0">
              <a:latin typeface="Montserrat Light" panose="00000400000000000000" pitchFamily="2" charset="0"/>
            </a:endParaRPr>
          </a:p>
          <a:p>
            <a:r>
              <a:rPr lang="en-US" dirty="0">
                <a:latin typeface="Montserrat Light" panose="00000400000000000000" pitchFamily="2" charset="0"/>
              </a:rPr>
              <a:t>Circular polarization that improves:</a:t>
            </a:r>
          </a:p>
          <a:p>
            <a:r>
              <a:rPr lang="en-US" dirty="0">
                <a:latin typeface="Montserrat Light" panose="00000400000000000000" pitchFamily="2" charset="0"/>
              </a:rPr>
              <a:t>•Resistance to polarization mismatch</a:t>
            </a:r>
            <a:br>
              <a:rPr lang="en-US" dirty="0">
                <a:latin typeface="Montserrat Light" panose="00000400000000000000" pitchFamily="2" charset="0"/>
              </a:rPr>
            </a:br>
            <a:r>
              <a:rPr lang="en-US" dirty="0">
                <a:latin typeface="Montserrat Light" panose="00000400000000000000" pitchFamily="2" charset="0"/>
              </a:rPr>
              <a:t>• Robustness to satellite rotation</a:t>
            </a:r>
          </a:p>
          <a:p>
            <a:endParaRPr lang="en-US" dirty="0">
              <a:latin typeface="Montserrat Light" panose="00000400000000000000" pitchFamily="2" charset="0"/>
            </a:endParaRPr>
          </a:p>
          <a:p>
            <a:r>
              <a:rPr lang="en-US" dirty="0">
                <a:latin typeface="Montserrat Light" panose="00000400000000000000" pitchFamily="2" charset="0"/>
              </a:rPr>
              <a:t>This is particularly useful in LEO missions where spacecraft attitude varies.</a:t>
            </a:r>
          </a:p>
          <a:p>
            <a:pPr marL="0" marR="38100" lvl="0" indent="0" algn="l" rtl="0">
              <a:lnSpc>
                <a:spcPct val="128571"/>
              </a:lnSpc>
              <a:spcBef>
                <a:spcPts val="0"/>
              </a:spcBef>
              <a:spcAft>
                <a:spcPts val="0"/>
              </a:spcAft>
              <a:buNone/>
            </a:pPr>
            <a:endParaRPr dirty="0">
              <a:solidFill>
                <a:schemeClr val="dk2"/>
              </a:solidFill>
              <a:latin typeface="Montserrat Light" panose="00000400000000000000" pitchFamily="2" charset="0"/>
              <a:ea typeface="Montserrat Light"/>
              <a:cs typeface="Montserrat Light"/>
              <a:sym typeface="Montserrat Light"/>
            </a:endParaRPr>
          </a:p>
          <a:p>
            <a:pPr marL="0" marR="38100" lvl="0" indent="0" algn="l" rtl="0">
              <a:lnSpc>
                <a:spcPct val="128571"/>
              </a:lnSpc>
              <a:spcBef>
                <a:spcPts val="0"/>
              </a:spcBef>
              <a:spcAft>
                <a:spcPts val="0"/>
              </a:spcAft>
              <a:buNone/>
            </a:pPr>
            <a:endParaRPr dirty="0">
              <a:solidFill>
                <a:schemeClr val="dk2"/>
              </a:solidFill>
              <a:latin typeface="Montserrat Light" panose="00000400000000000000" pitchFamily="2" charset="0"/>
              <a:ea typeface="Montserrat Light"/>
              <a:cs typeface="Montserrat Light"/>
              <a:sym typeface="Montserrat Light"/>
            </a:endParaRPr>
          </a:p>
        </p:txBody>
      </p:sp>
      <p:pic>
        <p:nvPicPr>
          <p:cNvPr id="280" name="Google Shape;280;p36"/>
          <p:cNvPicPr preferRelativeResize="0"/>
          <p:nvPr/>
        </p:nvPicPr>
        <p:blipFill>
          <a:blip r:embed="rId5">
            <a:alphaModFix/>
          </a:blip>
          <a:stretch>
            <a:fillRect/>
          </a:stretch>
        </p:blipFill>
        <p:spPr>
          <a:xfrm>
            <a:off x="4809174" y="1395743"/>
            <a:ext cx="4179750" cy="2787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7"/>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6" name="Google Shape;286;p37"/>
          <p:cNvSpPr txBox="1">
            <a:spLocks noGrp="1"/>
          </p:cNvSpPr>
          <p:nvPr>
            <p:ph type="ctrTitle" idx="4294967295"/>
          </p:nvPr>
        </p:nvSpPr>
        <p:spPr>
          <a:xfrm>
            <a:off x="1304550" y="441713"/>
            <a:ext cx="6534900" cy="65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3600" dirty="0">
                <a:solidFill>
                  <a:schemeClr val="dk2"/>
                </a:solidFill>
                <a:latin typeface="Montserrat"/>
                <a:ea typeface="Montserrat"/>
                <a:cs typeface="Montserrat"/>
                <a:sym typeface="Montserrat"/>
              </a:rPr>
              <a:t>CubeSat Patch Antenna</a:t>
            </a:r>
            <a:endParaRPr sz="3600" dirty="0">
              <a:solidFill>
                <a:schemeClr val="dk2"/>
              </a:solidFill>
              <a:latin typeface="Montserrat"/>
              <a:ea typeface="Montserrat"/>
              <a:cs typeface="Montserrat"/>
              <a:sym typeface="Montserrat"/>
            </a:endParaRPr>
          </a:p>
          <a:p>
            <a:pPr marL="0" lvl="0" indent="0" algn="l" rtl="0">
              <a:spcBef>
                <a:spcPts val="0"/>
              </a:spcBef>
              <a:spcAft>
                <a:spcPts val="0"/>
              </a:spcAft>
              <a:buNone/>
            </a:pPr>
            <a:endParaRPr sz="3600" dirty="0">
              <a:solidFill>
                <a:schemeClr val="dk2"/>
              </a:solidFill>
              <a:latin typeface="Montserrat"/>
              <a:ea typeface="Montserrat"/>
              <a:cs typeface="Montserrat"/>
              <a:sym typeface="Montserrat"/>
            </a:endParaRPr>
          </a:p>
        </p:txBody>
      </p:sp>
      <p:pic>
        <p:nvPicPr>
          <p:cNvPr id="287" name="Google Shape;287;p37"/>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288" name="Google Shape;288;p37"/>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289" name="Google Shape;289;p37"/>
          <p:cNvSpPr txBox="1"/>
          <p:nvPr/>
        </p:nvSpPr>
        <p:spPr>
          <a:xfrm>
            <a:off x="1304550" y="1249325"/>
            <a:ext cx="3995780" cy="3416290"/>
          </a:xfrm>
          <a:prstGeom prst="rect">
            <a:avLst/>
          </a:prstGeom>
          <a:noFill/>
          <a:ln>
            <a:noFill/>
          </a:ln>
        </p:spPr>
        <p:txBody>
          <a:bodyPr spcFirstLastPara="1" wrap="square" lIns="91425" tIns="91425" rIns="91425" bIns="91425" anchor="t" anchorCtr="0">
            <a:spAutoFit/>
          </a:bodyPr>
          <a:lstStyle/>
          <a:p>
            <a:r>
              <a:rPr lang="en-US" dirty="0">
                <a:latin typeface="Montserrat Light" panose="00000400000000000000" pitchFamily="2" charset="0"/>
              </a:rPr>
              <a:t>Patch antennas are planar, compact antennas used at higher frequencies.</a:t>
            </a:r>
          </a:p>
          <a:p>
            <a:endParaRPr lang="en-US" dirty="0">
              <a:latin typeface="Montserrat Light" panose="00000400000000000000" pitchFamily="2" charset="0"/>
            </a:endParaRPr>
          </a:p>
          <a:p>
            <a:r>
              <a:rPr lang="en-US" dirty="0">
                <a:latin typeface="Montserrat Light" panose="00000400000000000000" pitchFamily="2" charset="0"/>
              </a:rPr>
              <a:t>Characteristics:</a:t>
            </a:r>
          </a:p>
          <a:p>
            <a:endParaRPr lang="en-US" dirty="0">
              <a:latin typeface="Montserrat Light" panose="00000400000000000000" pitchFamily="2" charset="0"/>
            </a:endParaRPr>
          </a:p>
          <a:p>
            <a:r>
              <a:rPr lang="en-US" dirty="0">
                <a:latin typeface="Montserrat Light" panose="00000400000000000000" pitchFamily="2" charset="0"/>
              </a:rPr>
              <a:t>• High frequency operation (S-band, X-band, Ka-band)</a:t>
            </a:r>
          </a:p>
          <a:p>
            <a:br>
              <a:rPr lang="en-US" dirty="0">
                <a:latin typeface="Montserrat Light" panose="00000400000000000000" pitchFamily="2" charset="0"/>
              </a:rPr>
            </a:br>
            <a:r>
              <a:rPr lang="en-US" dirty="0">
                <a:latin typeface="Montserrat Light" panose="00000400000000000000" pitchFamily="2" charset="0"/>
              </a:rPr>
              <a:t>• Higher gain compared to monopoles/dipoles</a:t>
            </a:r>
          </a:p>
          <a:p>
            <a:br>
              <a:rPr lang="en-US" dirty="0">
                <a:latin typeface="Montserrat Light" panose="00000400000000000000" pitchFamily="2" charset="0"/>
              </a:rPr>
            </a:br>
            <a:r>
              <a:rPr lang="en-US" dirty="0">
                <a:latin typeface="Montserrat Light" panose="00000400000000000000" pitchFamily="2" charset="0"/>
              </a:rPr>
              <a:t>• Directional radiation pattern</a:t>
            </a:r>
          </a:p>
          <a:p>
            <a:endParaRPr lang="en-US" dirty="0">
              <a:latin typeface="Montserrat Light" panose="00000400000000000000" pitchFamily="2" charset="0"/>
            </a:endParaRPr>
          </a:p>
          <a:p>
            <a:r>
              <a:rPr lang="en-US" dirty="0">
                <a:latin typeface="Montserrat Light" panose="00000400000000000000" pitchFamily="2" charset="0"/>
              </a:rPr>
              <a:t>Often integrated directly into spacecraft solar panels.</a:t>
            </a:r>
          </a:p>
        </p:txBody>
      </p:sp>
      <p:pic>
        <p:nvPicPr>
          <p:cNvPr id="290" name="Google Shape;290;p37"/>
          <p:cNvPicPr preferRelativeResize="0"/>
          <p:nvPr/>
        </p:nvPicPr>
        <p:blipFill>
          <a:blip r:embed="rId5">
            <a:alphaModFix/>
          </a:blip>
          <a:stretch>
            <a:fillRect/>
          </a:stretch>
        </p:blipFill>
        <p:spPr>
          <a:xfrm>
            <a:off x="5363674" y="2255670"/>
            <a:ext cx="3625250" cy="27210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2"/>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 name="Google Shape;432;p52"/>
          <p:cNvSpPr txBox="1">
            <a:spLocks noGrp="1"/>
          </p:cNvSpPr>
          <p:nvPr>
            <p:ph type="ctrTitle" idx="4294967295"/>
          </p:nvPr>
        </p:nvSpPr>
        <p:spPr>
          <a:xfrm>
            <a:off x="1087150" y="441725"/>
            <a:ext cx="7718400" cy="657300"/>
          </a:xfrm>
          <a:prstGeom prst="rect">
            <a:avLst/>
          </a:prstGeom>
        </p:spPr>
        <p:txBody>
          <a:bodyPr spcFirstLastPara="1" wrap="square" lIns="91425" tIns="91425" rIns="91425" bIns="91425" anchor="t" anchorCtr="0">
            <a:noAutofit/>
          </a:bodyPr>
          <a:lstStyle/>
          <a:p>
            <a:pPr lvl="0"/>
            <a:r>
              <a:rPr lang="it-IT" sz="3600" dirty="0" err="1">
                <a:solidFill>
                  <a:schemeClr val="dk2"/>
                </a:solidFill>
                <a:latin typeface="Montserrat"/>
                <a:ea typeface="Montserrat"/>
                <a:cs typeface="Montserrat"/>
                <a:sym typeface="Montserrat"/>
              </a:rPr>
              <a:t>Antennas</a:t>
            </a:r>
            <a:r>
              <a:rPr lang="it-IT" sz="3600" dirty="0">
                <a:solidFill>
                  <a:schemeClr val="dk2"/>
                </a:solidFill>
                <a:latin typeface="Montserrat"/>
                <a:ea typeface="Montserrat"/>
                <a:cs typeface="Montserrat"/>
                <a:sym typeface="Montserrat"/>
              </a:rPr>
              <a:t> Are Not </a:t>
            </a:r>
            <a:r>
              <a:rPr lang="it-IT" sz="3600" dirty="0" err="1">
                <a:solidFill>
                  <a:schemeClr val="dk2"/>
                </a:solidFill>
                <a:latin typeface="Montserrat"/>
                <a:ea typeface="Montserrat"/>
                <a:cs typeface="Montserrat"/>
                <a:sym typeface="Montserrat"/>
              </a:rPr>
              <a:t>Enough</a:t>
            </a:r>
            <a:endParaRPr sz="3600" dirty="0">
              <a:solidFill>
                <a:schemeClr val="dk2"/>
              </a:solidFill>
              <a:latin typeface="Montserrat"/>
              <a:ea typeface="Montserrat"/>
              <a:cs typeface="Montserrat"/>
              <a:sym typeface="Montserrat"/>
            </a:endParaRPr>
          </a:p>
        </p:txBody>
      </p:sp>
      <p:pic>
        <p:nvPicPr>
          <p:cNvPr id="433" name="Google Shape;433;p52"/>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434" name="Google Shape;434;p52"/>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435" name="Google Shape;435;p52"/>
          <p:cNvSpPr txBox="1"/>
          <p:nvPr/>
        </p:nvSpPr>
        <p:spPr>
          <a:xfrm>
            <a:off x="1087150" y="1492050"/>
            <a:ext cx="7718400" cy="2585293"/>
          </a:xfrm>
          <a:prstGeom prst="rect">
            <a:avLst/>
          </a:prstGeom>
          <a:noFill/>
          <a:ln>
            <a:noFill/>
          </a:ln>
        </p:spPr>
        <p:txBody>
          <a:bodyPr spcFirstLastPara="1" wrap="square" lIns="91425" tIns="91425" rIns="91425" bIns="91425" anchor="t" anchorCtr="0">
            <a:spAutoFit/>
          </a:bodyPr>
          <a:lstStyle/>
          <a:p>
            <a:r>
              <a:rPr lang="en-US" sz="1200" dirty="0">
                <a:latin typeface="Montserrat Light" panose="00000400000000000000" pitchFamily="2" charset="0"/>
              </a:rPr>
              <a:t>An antenna alone cannot transmit or receive meaningful information.</a:t>
            </a:r>
          </a:p>
          <a:p>
            <a:endParaRPr lang="en-US" sz="1200" dirty="0">
              <a:latin typeface="Montserrat Light" panose="00000400000000000000" pitchFamily="2" charset="0"/>
            </a:endParaRPr>
          </a:p>
          <a:p>
            <a:r>
              <a:rPr lang="en-US" sz="1200" dirty="0">
                <a:latin typeface="Montserrat Light" panose="00000400000000000000" pitchFamily="2" charset="0"/>
              </a:rPr>
              <a:t>The antenna is only the interface between the spacecraft and free space:</a:t>
            </a:r>
            <a:br>
              <a:rPr lang="en-US" sz="1200" dirty="0">
                <a:latin typeface="Montserrat Light" panose="00000400000000000000" pitchFamily="2" charset="0"/>
              </a:rPr>
            </a:br>
            <a:r>
              <a:rPr lang="en-US" sz="1200" dirty="0">
                <a:latin typeface="Montserrat Light" panose="00000400000000000000" pitchFamily="2" charset="0"/>
              </a:rPr>
              <a:t>it converts electrical signals into electromagnetic waves (and vice versa).</a:t>
            </a:r>
          </a:p>
          <a:p>
            <a:endParaRPr lang="en-US" sz="1200" dirty="0">
              <a:latin typeface="Montserrat Light" panose="00000400000000000000" pitchFamily="2" charset="0"/>
            </a:endParaRPr>
          </a:p>
          <a:p>
            <a:r>
              <a:rPr lang="en-US" sz="1200" dirty="0">
                <a:latin typeface="Montserrat Light" panose="00000400000000000000" pitchFamily="2" charset="0"/>
              </a:rPr>
              <a:t>To actually communicate, we need a radio system that:</a:t>
            </a:r>
          </a:p>
          <a:p>
            <a:r>
              <a:rPr lang="en-US" sz="1200" dirty="0">
                <a:latin typeface="Montserrat Light" panose="00000400000000000000" pitchFamily="2" charset="0"/>
              </a:rPr>
              <a:t>• Generates the carrier frequency</a:t>
            </a:r>
            <a:br>
              <a:rPr lang="en-US" sz="1200" dirty="0">
                <a:latin typeface="Montserrat Light" panose="00000400000000000000" pitchFamily="2" charset="0"/>
              </a:rPr>
            </a:br>
            <a:r>
              <a:rPr lang="en-US" sz="1200" dirty="0">
                <a:latin typeface="Montserrat Light" panose="00000400000000000000" pitchFamily="2" charset="0"/>
              </a:rPr>
              <a:t>• Modulates digital data onto the carrier</a:t>
            </a:r>
            <a:br>
              <a:rPr lang="en-US" sz="1200" dirty="0">
                <a:latin typeface="Montserrat Light" panose="00000400000000000000" pitchFamily="2" charset="0"/>
              </a:rPr>
            </a:br>
            <a:r>
              <a:rPr lang="en-US" sz="1200" dirty="0">
                <a:latin typeface="Montserrat Light" panose="00000400000000000000" pitchFamily="2" charset="0"/>
              </a:rPr>
              <a:t>• Amplifies the signal before transmission</a:t>
            </a:r>
            <a:br>
              <a:rPr lang="en-US" sz="1200" dirty="0">
                <a:latin typeface="Montserrat Light" panose="00000400000000000000" pitchFamily="2" charset="0"/>
              </a:rPr>
            </a:br>
            <a:r>
              <a:rPr lang="en-US" sz="1200" dirty="0">
                <a:latin typeface="Montserrat Light" panose="00000400000000000000" pitchFamily="2" charset="0"/>
              </a:rPr>
              <a:t>• Receives weak incoming signals</a:t>
            </a:r>
            <a:br>
              <a:rPr lang="en-US" sz="1200" dirty="0">
                <a:latin typeface="Montserrat Light" panose="00000400000000000000" pitchFamily="2" charset="0"/>
              </a:rPr>
            </a:br>
            <a:r>
              <a:rPr lang="en-US" sz="1200" dirty="0">
                <a:latin typeface="Montserrat Light" panose="00000400000000000000" pitchFamily="2" charset="0"/>
              </a:rPr>
              <a:t>• Demodulates and decodes the data</a:t>
            </a:r>
          </a:p>
          <a:p>
            <a:endParaRPr lang="en-US" sz="1200" dirty="0">
              <a:latin typeface="Montserrat Light" panose="00000400000000000000" pitchFamily="2" charset="0"/>
            </a:endParaRPr>
          </a:p>
          <a:p>
            <a:r>
              <a:rPr lang="en-US" sz="1200" dirty="0">
                <a:latin typeface="Montserrat Light" panose="00000400000000000000" pitchFamily="2" charset="0"/>
              </a:rPr>
              <a:t>This complete system is called a </a:t>
            </a:r>
            <a:r>
              <a:rPr lang="en-US" sz="1200" b="1" dirty="0">
                <a:solidFill>
                  <a:srgbClr val="FFC000"/>
                </a:solidFill>
                <a:latin typeface="Montserrat" pitchFamily="2" charset="0"/>
              </a:rPr>
              <a:t>transceiver</a:t>
            </a:r>
            <a:r>
              <a:rPr lang="en-US" sz="1200" dirty="0">
                <a:latin typeface="Montserrat Light" panose="00000400000000000000" pitchFamily="2" charset="0"/>
              </a:rPr>
              <a:t> (transmitter + receiver).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0">
          <a:extLst>
            <a:ext uri="{FF2B5EF4-FFF2-40B4-BE49-F238E27FC236}">
              <a16:creationId xmlns:a16="http://schemas.microsoft.com/office/drawing/2014/main" id="{B47C8B0E-B2BD-AF54-364B-82A102104368}"/>
            </a:ext>
          </a:extLst>
        </p:cNvPr>
        <p:cNvGrpSpPr/>
        <p:nvPr/>
      </p:nvGrpSpPr>
      <p:grpSpPr>
        <a:xfrm>
          <a:off x="0" y="0"/>
          <a:ext cx="0" cy="0"/>
          <a:chOff x="0" y="0"/>
          <a:chExt cx="0" cy="0"/>
        </a:xfrm>
      </p:grpSpPr>
      <p:sp>
        <p:nvSpPr>
          <p:cNvPr id="431" name="Google Shape;431;p52">
            <a:extLst>
              <a:ext uri="{FF2B5EF4-FFF2-40B4-BE49-F238E27FC236}">
                <a16:creationId xmlns:a16="http://schemas.microsoft.com/office/drawing/2014/main" id="{A929AF30-0057-C6E3-9EA1-F5EA6416F03A}"/>
              </a:ext>
            </a:extLst>
          </p:cNvPr>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 name="Google Shape;432;p52">
            <a:extLst>
              <a:ext uri="{FF2B5EF4-FFF2-40B4-BE49-F238E27FC236}">
                <a16:creationId xmlns:a16="http://schemas.microsoft.com/office/drawing/2014/main" id="{02ADF6C1-4320-4EB5-DE1C-4C651843BCE1}"/>
              </a:ext>
            </a:extLst>
          </p:cNvPr>
          <p:cNvSpPr txBox="1">
            <a:spLocks noGrp="1"/>
          </p:cNvSpPr>
          <p:nvPr>
            <p:ph type="ctrTitle" idx="4294967295"/>
          </p:nvPr>
        </p:nvSpPr>
        <p:spPr>
          <a:xfrm>
            <a:off x="1087150" y="441725"/>
            <a:ext cx="7718400" cy="657300"/>
          </a:xfrm>
          <a:prstGeom prst="rect">
            <a:avLst/>
          </a:prstGeom>
        </p:spPr>
        <p:txBody>
          <a:bodyPr spcFirstLastPara="1" wrap="square" lIns="91425" tIns="91425" rIns="91425" bIns="91425" anchor="t" anchorCtr="0">
            <a:noAutofit/>
          </a:bodyPr>
          <a:lstStyle/>
          <a:p>
            <a:pPr lvl="0"/>
            <a:r>
              <a:rPr lang="it-IT" sz="3600" dirty="0">
                <a:solidFill>
                  <a:schemeClr val="dk2"/>
                </a:solidFill>
                <a:latin typeface="Montserrat"/>
                <a:ea typeface="Montserrat"/>
                <a:cs typeface="Montserrat"/>
                <a:sym typeface="Montserrat"/>
              </a:rPr>
              <a:t>The </a:t>
            </a:r>
            <a:r>
              <a:rPr lang="it-IT" sz="3600" dirty="0" err="1">
                <a:solidFill>
                  <a:schemeClr val="dk2"/>
                </a:solidFill>
                <a:latin typeface="Montserrat"/>
                <a:ea typeface="Montserrat"/>
                <a:cs typeface="Montserrat"/>
                <a:sym typeface="Montserrat"/>
              </a:rPr>
              <a:t>CubeSat</a:t>
            </a:r>
            <a:r>
              <a:rPr lang="it-IT" sz="3600" dirty="0">
                <a:solidFill>
                  <a:schemeClr val="dk2"/>
                </a:solidFill>
                <a:latin typeface="Montserrat"/>
                <a:ea typeface="Montserrat"/>
                <a:cs typeface="Montserrat"/>
                <a:sym typeface="Montserrat"/>
              </a:rPr>
              <a:t> </a:t>
            </a:r>
            <a:r>
              <a:rPr lang="it-IT" sz="3600" dirty="0" err="1">
                <a:solidFill>
                  <a:schemeClr val="dk2"/>
                </a:solidFill>
                <a:latin typeface="Montserrat"/>
                <a:ea typeface="Montserrat"/>
                <a:cs typeface="Montserrat"/>
                <a:sym typeface="Montserrat"/>
              </a:rPr>
              <a:t>Transceiver</a:t>
            </a:r>
            <a:endParaRPr sz="3600" dirty="0">
              <a:solidFill>
                <a:schemeClr val="dk2"/>
              </a:solidFill>
              <a:latin typeface="Montserrat"/>
              <a:ea typeface="Montserrat"/>
              <a:cs typeface="Montserrat"/>
              <a:sym typeface="Montserrat"/>
            </a:endParaRPr>
          </a:p>
        </p:txBody>
      </p:sp>
      <p:pic>
        <p:nvPicPr>
          <p:cNvPr id="433" name="Google Shape;433;p52">
            <a:extLst>
              <a:ext uri="{FF2B5EF4-FFF2-40B4-BE49-F238E27FC236}">
                <a16:creationId xmlns:a16="http://schemas.microsoft.com/office/drawing/2014/main" id="{DE30E075-2023-B3DD-3376-D2089B0F297C}"/>
              </a:ext>
            </a:extLst>
          </p:cNvPr>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434" name="Google Shape;434;p52">
            <a:extLst>
              <a:ext uri="{FF2B5EF4-FFF2-40B4-BE49-F238E27FC236}">
                <a16:creationId xmlns:a16="http://schemas.microsoft.com/office/drawing/2014/main" id="{3F1CD7BD-D8D6-126E-19A0-7CCAAB870E8B}"/>
              </a:ext>
            </a:extLst>
          </p:cNvPr>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435" name="Google Shape;435;p52">
            <a:extLst>
              <a:ext uri="{FF2B5EF4-FFF2-40B4-BE49-F238E27FC236}">
                <a16:creationId xmlns:a16="http://schemas.microsoft.com/office/drawing/2014/main" id="{0A010731-2463-3874-BD52-42FB4B19D79C}"/>
              </a:ext>
            </a:extLst>
          </p:cNvPr>
          <p:cNvSpPr txBox="1"/>
          <p:nvPr/>
        </p:nvSpPr>
        <p:spPr>
          <a:xfrm>
            <a:off x="1087150" y="1291857"/>
            <a:ext cx="7652813" cy="2215961"/>
          </a:xfrm>
          <a:prstGeom prst="rect">
            <a:avLst/>
          </a:prstGeom>
          <a:noFill/>
          <a:ln>
            <a:noFill/>
          </a:ln>
        </p:spPr>
        <p:txBody>
          <a:bodyPr spcFirstLastPara="1" wrap="square" lIns="91425" tIns="91425" rIns="91425" bIns="91425" anchor="t" anchorCtr="0">
            <a:spAutoFit/>
          </a:bodyPr>
          <a:lstStyle/>
          <a:p>
            <a:r>
              <a:rPr lang="en-US" sz="1200" dirty="0">
                <a:latin typeface="Montserrat Light" panose="00000400000000000000" pitchFamily="2" charset="0"/>
              </a:rPr>
              <a:t>A CubeSat transceiver is the electronic subsystem that enables communication.</a:t>
            </a:r>
          </a:p>
          <a:p>
            <a:r>
              <a:rPr lang="en-US" sz="1200" dirty="0">
                <a:latin typeface="Montserrat Light" panose="00000400000000000000" pitchFamily="2" charset="0"/>
              </a:rPr>
              <a:t>It typically includes:</a:t>
            </a:r>
          </a:p>
          <a:p>
            <a:endParaRPr lang="en-US" sz="1200" dirty="0">
              <a:latin typeface="Montserrat Light" panose="00000400000000000000" pitchFamily="2" charset="0"/>
            </a:endParaRPr>
          </a:p>
          <a:p>
            <a:pPr marL="171450" indent="-171450">
              <a:buFont typeface="Arial" panose="020B0604020202020204" pitchFamily="34" charset="0"/>
              <a:buChar char="•"/>
            </a:pPr>
            <a:r>
              <a:rPr lang="en-US" sz="1200" dirty="0">
                <a:latin typeface="Montserrat Light" panose="00000400000000000000" pitchFamily="2" charset="0"/>
              </a:rPr>
              <a:t>Baseband Processing</a:t>
            </a:r>
          </a:p>
          <a:p>
            <a:pPr marL="171450" indent="-171450">
              <a:buFont typeface="Arial" panose="020B0604020202020204" pitchFamily="34" charset="0"/>
              <a:buChar char="•"/>
            </a:pPr>
            <a:r>
              <a:rPr lang="en-US" sz="1200" dirty="0">
                <a:latin typeface="Montserrat Light" panose="00000400000000000000" pitchFamily="2" charset="0"/>
              </a:rPr>
              <a:t>Frequency Generation</a:t>
            </a:r>
          </a:p>
          <a:p>
            <a:pPr marL="171450" indent="-171450">
              <a:buFont typeface="Arial" panose="020B0604020202020204" pitchFamily="34" charset="0"/>
              <a:buChar char="•"/>
            </a:pPr>
            <a:r>
              <a:rPr lang="en-US" sz="1200" dirty="0">
                <a:latin typeface="Montserrat Light" panose="00000400000000000000" pitchFamily="2" charset="0"/>
              </a:rPr>
              <a:t>Power Amplifier (PA)</a:t>
            </a:r>
          </a:p>
          <a:p>
            <a:pPr marL="171450" indent="-171450">
              <a:buFont typeface="Arial" panose="020B0604020202020204" pitchFamily="34" charset="0"/>
              <a:buChar char="•"/>
            </a:pPr>
            <a:r>
              <a:rPr lang="en-US" sz="1200" dirty="0">
                <a:latin typeface="Montserrat Light" panose="00000400000000000000" pitchFamily="2" charset="0"/>
              </a:rPr>
              <a:t>Low Noise Amplifier (LNA)</a:t>
            </a:r>
          </a:p>
          <a:p>
            <a:pPr marL="171450" indent="-171450">
              <a:buFont typeface="Arial" panose="020B0604020202020204" pitchFamily="34" charset="0"/>
              <a:buChar char="•"/>
            </a:pPr>
            <a:r>
              <a:rPr lang="en-US" sz="1200" dirty="0">
                <a:latin typeface="Montserrat Light" panose="00000400000000000000" pitchFamily="2" charset="0"/>
              </a:rPr>
              <a:t>RF Filtering and Switching</a:t>
            </a:r>
          </a:p>
          <a:p>
            <a:endParaRPr lang="en-US" sz="1200" dirty="0">
              <a:latin typeface="Montserrat Light" panose="00000400000000000000" pitchFamily="2" charset="0"/>
            </a:endParaRPr>
          </a:p>
          <a:p>
            <a:r>
              <a:rPr lang="en-US" sz="1200" dirty="0">
                <a:latin typeface="Montserrat Light" panose="00000400000000000000" pitchFamily="2" charset="0"/>
              </a:rPr>
              <a:t>The </a:t>
            </a:r>
            <a:r>
              <a:rPr lang="en-US" sz="1200" b="1" dirty="0">
                <a:solidFill>
                  <a:srgbClr val="FFC000"/>
                </a:solidFill>
                <a:latin typeface="Montserrat" pitchFamily="2" charset="0"/>
              </a:rPr>
              <a:t>antenna radiates </a:t>
            </a:r>
            <a:r>
              <a:rPr lang="en-US" sz="1200" dirty="0">
                <a:latin typeface="Montserrat Light" panose="00000400000000000000" pitchFamily="2" charset="0"/>
              </a:rPr>
              <a:t>the signal,</a:t>
            </a:r>
            <a:br>
              <a:rPr lang="en-US" sz="1200" dirty="0">
                <a:latin typeface="Montserrat Light" panose="00000400000000000000" pitchFamily="2" charset="0"/>
              </a:rPr>
            </a:br>
            <a:r>
              <a:rPr lang="en-US" sz="1200" dirty="0">
                <a:latin typeface="Montserrat Light" panose="00000400000000000000" pitchFamily="2" charset="0"/>
              </a:rPr>
              <a:t>but the </a:t>
            </a:r>
            <a:r>
              <a:rPr lang="en-US" sz="1200" b="1" dirty="0">
                <a:solidFill>
                  <a:srgbClr val="FFC000"/>
                </a:solidFill>
                <a:latin typeface="Montserrat" pitchFamily="2" charset="0"/>
              </a:rPr>
              <a:t>transceiver creates, processes, and interprets </a:t>
            </a:r>
            <a:r>
              <a:rPr lang="en-US" sz="1200" dirty="0">
                <a:latin typeface="Montserrat Light" panose="00000400000000000000" pitchFamily="2" charset="0"/>
              </a:rPr>
              <a:t>it.</a:t>
            </a:r>
          </a:p>
        </p:txBody>
      </p:sp>
      <p:pic>
        <p:nvPicPr>
          <p:cNvPr id="1026" name="Picture 2" descr="ISISPACE UHF downlink/VHF uplink Transceiver (TRXVU) - CubeSatShop.com">
            <a:extLst>
              <a:ext uri="{FF2B5EF4-FFF2-40B4-BE49-F238E27FC236}">
                <a16:creationId xmlns:a16="http://schemas.microsoft.com/office/drawing/2014/main" id="{D3ABF0BE-A482-AAE4-D5C0-6DCAF28423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5550" y="1598428"/>
            <a:ext cx="2919966" cy="1946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0551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30">
          <a:extLst>
            <a:ext uri="{FF2B5EF4-FFF2-40B4-BE49-F238E27FC236}">
              <a16:creationId xmlns:a16="http://schemas.microsoft.com/office/drawing/2014/main" id="{D453481B-14C6-D724-5549-A82209843957}"/>
            </a:ext>
          </a:extLst>
        </p:cNvPr>
        <p:cNvGrpSpPr/>
        <p:nvPr/>
      </p:nvGrpSpPr>
      <p:grpSpPr>
        <a:xfrm>
          <a:off x="0" y="0"/>
          <a:ext cx="0" cy="0"/>
          <a:chOff x="0" y="0"/>
          <a:chExt cx="0" cy="0"/>
        </a:xfrm>
      </p:grpSpPr>
      <p:sp>
        <p:nvSpPr>
          <p:cNvPr id="431" name="Google Shape;431;p52">
            <a:extLst>
              <a:ext uri="{FF2B5EF4-FFF2-40B4-BE49-F238E27FC236}">
                <a16:creationId xmlns:a16="http://schemas.microsoft.com/office/drawing/2014/main" id="{95E6C4C1-6737-1D51-BA7B-B9126459D4CB}"/>
              </a:ext>
            </a:extLst>
          </p:cNvPr>
          <p:cNvSpPr/>
          <p:nvPr/>
        </p:nvSpPr>
        <p:spPr>
          <a:xfrm>
            <a:off x="0" y="0"/>
            <a:ext cx="8148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 name="Google Shape;432;p52">
            <a:extLst>
              <a:ext uri="{FF2B5EF4-FFF2-40B4-BE49-F238E27FC236}">
                <a16:creationId xmlns:a16="http://schemas.microsoft.com/office/drawing/2014/main" id="{401B65A7-E480-9EEA-79C0-AD4D7620A05E}"/>
              </a:ext>
            </a:extLst>
          </p:cNvPr>
          <p:cNvSpPr txBox="1">
            <a:spLocks noGrp="1"/>
          </p:cNvSpPr>
          <p:nvPr>
            <p:ph type="ctrTitle" idx="4294967295"/>
          </p:nvPr>
        </p:nvSpPr>
        <p:spPr>
          <a:xfrm>
            <a:off x="1087150" y="441725"/>
            <a:ext cx="7718400" cy="657300"/>
          </a:xfrm>
          <a:prstGeom prst="rect">
            <a:avLst/>
          </a:prstGeom>
        </p:spPr>
        <p:txBody>
          <a:bodyPr spcFirstLastPara="1" wrap="square" lIns="91425" tIns="91425" rIns="91425" bIns="91425" anchor="t" anchorCtr="0">
            <a:noAutofit/>
          </a:bodyPr>
          <a:lstStyle/>
          <a:p>
            <a:pPr lvl="0"/>
            <a:r>
              <a:rPr lang="it-IT" sz="3600" dirty="0">
                <a:solidFill>
                  <a:schemeClr val="dk2"/>
                </a:solidFill>
                <a:latin typeface="Montserrat"/>
                <a:ea typeface="Montserrat"/>
                <a:cs typeface="Montserrat"/>
                <a:sym typeface="Montserrat"/>
              </a:rPr>
              <a:t>Common </a:t>
            </a:r>
            <a:r>
              <a:rPr lang="it-IT" sz="3600" dirty="0" err="1">
                <a:solidFill>
                  <a:schemeClr val="dk2"/>
                </a:solidFill>
                <a:latin typeface="Montserrat"/>
                <a:ea typeface="Montserrat"/>
                <a:cs typeface="Montserrat"/>
                <a:sym typeface="Montserrat"/>
              </a:rPr>
              <a:t>CubeSat</a:t>
            </a:r>
            <a:r>
              <a:rPr lang="it-IT" sz="3600" dirty="0">
                <a:solidFill>
                  <a:schemeClr val="dk2"/>
                </a:solidFill>
                <a:latin typeface="Montserrat"/>
                <a:ea typeface="Montserrat"/>
                <a:cs typeface="Montserrat"/>
                <a:sym typeface="Montserrat"/>
              </a:rPr>
              <a:t> Radio </a:t>
            </a:r>
            <a:r>
              <a:rPr lang="it-IT" sz="3600" dirty="0" err="1">
                <a:solidFill>
                  <a:schemeClr val="dk2"/>
                </a:solidFill>
                <a:latin typeface="Montserrat"/>
                <a:ea typeface="Montserrat"/>
                <a:cs typeface="Montserrat"/>
                <a:sym typeface="Montserrat"/>
              </a:rPr>
              <a:t>Types</a:t>
            </a:r>
            <a:endParaRPr sz="3600" dirty="0">
              <a:solidFill>
                <a:schemeClr val="dk2"/>
              </a:solidFill>
              <a:latin typeface="Montserrat"/>
              <a:ea typeface="Montserrat"/>
              <a:cs typeface="Montserrat"/>
              <a:sym typeface="Montserrat"/>
            </a:endParaRPr>
          </a:p>
        </p:txBody>
      </p:sp>
      <p:pic>
        <p:nvPicPr>
          <p:cNvPr id="433" name="Google Shape;433;p52">
            <a:extLst>
              <a:ext uri="{FF2B5EF4-FFF2-40B4-BE49-F238E27FC236}">
                <a16:creationId xmlns:a16="http://schemas.microsoft.com/office/drawing/2014/main" id="{EB399593-9FB3-E0B4-6AEA-26F9715260B5}"/>
              </a:ext>
            </a:extLst>
          </p:cNvPr>
          <p:cNvPicPr preferRelativeResize="0"/>
          <p:nvPr/>
        </p:nvPicPr>
        <p:blipFill rotWithShape="1">
          <a:blip r:embed="rId3">
            <a:alphaModFix/>
          </a:blip>
          <a:srcRect t="24036" b="31672"/>
          <a:stretch/>
        </p:blipFill>
        <p:spPr>
          <a:xfrm rot="-5400000">
            <a:off x="-140827" y="458276"/>
            <a:ext cx="1096450" cy="485650"/>
          </a:xfrm>
          <a:prstGeom prst="rect">
            <a:avLst/>
          </a:prstGeom>
          <a:noFill/>
          <a:ln>
            <a:noFill/>
          </a:ln>
        </p:spPr>
      </p:pic>
      <p:pic>
        <p:nvPicPr>
          <p:cNvPr id="434" name="Google Shape;434;p52">
            <a:extLst>
              <a:ext uri="{FF2B5EF4-FFF2-40B4-BE49-F238E27FC236}">
                <a16:creationId xmlns:a16="http://schemas.microsoft.com/office/drawing/2014/main" id="{BCD364C9-EA71-BA28-7A40-0581AE6C3510}"/>
              </a:ext>
            </a:extLst>
          </p:cNvPr>
          <p:cNvPicPr preferRelativeResize="0"/>
          <p:nvPr/>
        </p:nvPicPr>
        <p:blipFill>
          <a:blip r:embed="rId4">
            <a:alphaModFix/>
          </a:blip>
          <a:stretch>
            <a:fillRect/>
          </a:stretch>
        </p:blipFill>
        <p:spPr>
          <a:xfrm rot="-5400000">
            <a:off x="-223550" y="4093470"/>
            <a:ext cx="1261901" cy="504649"/>
          </a:xfrm>
          <a:prstGeom prst="rect">
            <a:avLst/>
          </a:prstGeom>
          <a:noFill/>
          <a:ln>
            <a:noFill/>
          </a:ln>
        </p:spPr>
      </p:pic>
      <p:sp>
        <p:nvSpPr>
          <p:cNvPr id="435" name="Google Shape;435;p52">
            <a:extLst>
              <a:ext uri="{FF2B5EF4-FFF2-40B4-BE49-F238E27FC236}">
                <a16:creationId xmlns:a16="http://schemas.microsoft.com/office/drawing/2014/main" id="{EF93530B-771E-2370-2483-ECD2591E53C6}"/>
              </a:ext>
            </a:extLst>
          </p:cNvPr>
          <p:cNvSpPr txBox="1"/>
          <p:nvPr/>
        </p:nvSpPr>
        <p:spPr>
          <a:xfrm>
            <a:off x="1087150" y="1291857"/>
            <a:ext cx="7652813" cy="2954625"/>
          </a:xfrm>
          <a:prstGeom prst="rect">
            <a:avLst/>
          </a:prstGeom>
          <a:noFill/>
          <a:ln>
            <a:noFill/>
          </a:ln>
        </p:spPr>
        <p:txBody>
          <a:bodyPr spcFirstLastPara="1" wrap="square" lIns="91425" tIns="91425" rIns="91425" bIns="91425" anchor="t" anchorCtr="0">
            <a:spAutoFit/>
          </a:bodyPr>
          <a:lstStyle/>
          <a:p>
            <a:r>
              <a:rPr lang="it-IT" sz="1200" b="1" dirty="0">
                <a:solidFill>
                  <a:srgbClr val="FFC000"/>
                </a:solidFill>
                <a:latin typeface="Montserrat" pitchFamily="2" charset="0"/>
              </a:rPr>
              <a:t>UHF (300–1000 MHz)</a:t>
            </a:r>
            <a:br>
              <a:rPr lang="it-IT" sz="1200" b="1" dirty="0">
                <a:solidFill>
                  <a:srgbClr val="FFC000"/>
                </a:solidFill>
                <a:latin typeface="Montserrat" pitchFamily="2" charset="0"/>
              </a:rPr>
            </a:br>
            <a:r>
              <a:rPr lang="it-IT" sz="1200" dirty="0" err="1">
                <a:latin typeface="Montserrat Light" panose="00000400000000000000" pitchFamily="2" charset="0"/>
              </a:rPr>
              <a:t>Most</a:t>
            </a:r>
            <a:r>
              <a:rPr lang="it-IT" sz="1200" dirty="0">
                <a:latin typeface="Montserrat Light" panose="00000400000000000000" pitchFamily="2" charset="0"/>
              </a:rPr>
              <a:t> common for </a:t>
            </a:r>
            <a:r>
              <a:rPr lang="it-IT" sz="1200" dirty="0" err="1">
                <a:latin typeface="Montserrat Light" panose="00000400000000000000" pitchFamily="2" charset="0"/>
              </a:rPr>
              <a:t>CubeSats</a:t>
            </a:r>
            <a:r>
              <a:rPr lang="it-IT" sz="1200" dirty="0">
                <a:latin typeface="Montserrat Light" panose="00000400000000000000" pitchFamily="2" charset="0"/>
              </a:rPr>
              <a:t>: TT&amp;C, low data rate, </a:t>
            </a:r>
            <a:r>
              <a:rPr lang="it-IT" sz="1200" dirty="0" err="1">
                <a:latin typeface="Montserrat Light" panose="00000400000000000000" pitchFamily="2" charset="0"/>
              </a:rPr>
              <a:t>larger</a:t>
            </a:r>
            <a:r>
              <a:rPr lang="it-IT" sz="1200" dirty="0">
                <a:latin typeface="Montserrat Light" panose="00000400000000000000" pitchFamily="2" charset="0"/>
              </a:rPr>
              <a:t> </a:t>
            </a:r>
            <a:r>
              <a:rPr lang="it-IT" sz="1200" dirty="0" err="1">
                <a:latin typeface="Montserrat Light" panose="00000400000000000000" pitchFamily="2" charset="0"/>
              </a:rPr>
              <a:t>antennas</a:t>
            </a:r>
            <a:r>
              <a:rPr lang="it-IT" sz="1200" dirty="0">
                <a:latin typeface="Montserrat Light" panose="00000400000000000000" pitchFamily="2" charset="0"/>
              </a:rPr>
              <a:t>, </a:t>
            </a:r>
            <a:r>
              <a:rPr lang="it-IT" sz="1200" dirty="0" err="1">
                <a:latin typeface="Montserrat Light" panose="00000400000000000000" pitchFamily="2" charset="0"/>
              </a:rPr>
              <a:t>robust</a:t>
            </a:r>
            <a:r>
              <a:rPr lang="it-IT" sz="1200" dirty="0">
                <a:latin typeface="Montserrat Light" panose="00000400000000000000" pitchFamily="2" charset="0"/>
              </a:rPr>
              <a:t> links.</a:t>
            </a:r>
          </a:p>
          <a:p>
            <a:endParaRPr lang="it-IT" sz="1200" dirty="0">
              <a:latin typeface="Montserrat Light" panose="00000400000000000000" pitchFamily="2" charset="0"/>
            </a:endParaRPr>
          </a:p>
          <a:p>
            <a:r>
              <a:rPr lang="it-IT" sz="1200" b="1" dirty="0">
                <a:solidFill>
                  <a:srgbClr val="FFC000"/>
                </a:solidFill>
                <a:latin typeface="Montserrat" pitchFamily="2" charset="0"/>
              </a:rPr>
              <a:t>VHF (30–300 MHz)</a:t>
            </a:r>
            <a:br>
              <a:rPr lang="it-IT" sz="1200" b="1" dirty="0">
                <a:solidFill>
                  <a:srgbClr val="FFC000"/>
                </a:solidFill>
                <a:latin typeface="Montserrat" pitchFamily="2" charset="0"/>
              </a:rPr>
            </a:br>
            <a:r>
              <a:rPr lang="it-IT" sz="1200" dirty="0" err="1">
                <a:latin typeface="Montserrat Light" panose="00000400000000000000" pitchFamily="2" charset="0"/>
              </a:rPr>
              <a:t>Very</a:t>
            </a:r>
            <a:r>
              <a:rPr lang="it-IT" sz="1200" dirty="0">
                <a:latin typeface="Montserrat Light" panose="00000400000000000000" pitchFamily="2" charset="0"/>
              </a:rPr>
              <a:t> </a:t>
            </a:r>
            <a:r>
              <a:rPr lang="it-IT" sz="1200" dirty="0" err="1">
                <a:latin typeface="Montserrat Light" panose="00000400000000000000" pitchFamily="2" charset="0"/>
              </a:rPr>
              <a:t>robust</a:t>
            </a:r>
            <a:r>
              <a:rPr lang="it-IT" sz="1200" dirty="0">
                <a:latin typeface="Montserrat Light" panose="00000400000000000000" pitchFamily="2" charset="0"/>
              </a:rPr>
              <a:t> </a:t>
            </a:r>
            <a:r>
              <a:rPr lang="it-IT" sz="1200" dirty="0" err="1">
                <a:latin typeface="Montserrat Light" panose="00000400000000000000" pitchFamily="2" charset="0"/>
              </a:rPr>
              <a:t>but</a:t>
            </a:r>
            <a:r>
              <a:rPr lang="it-IT" sz="1200" dirty="0">
                <a:latin typeface="Montserrat Light" panose="00000400000000000000" pitchFamily="2" charset="0"/>
              </a:rPr>
              <a:t> </a:t>
            </a:r>
            <a:r>
              <a:rPr lang="it-IT" sz="1200" dirty="0" err="1">
                <a:latin typeface="Montserrat Light" panose="00000400000000000000" pitchFamily="2" charset="0"/>
              </a:rPr>
              <a:t>very</a:t>
            </a:r>
            <a:r>
              <a:rPr lang="it-IT" sz="1200" dirty="0">
                <a:latin typeface="Montserrat Light" panose="00000400000000000000" pitchFamily="2" charset="0"/>
              </a:rPr>
              <a:t> low data rate; </a:t>
            </a:r>
            <a:r>
              <a:rPr lang="it-IT" sz="1200" dirty="0" err="1">
                <a:latin typeface="Montserrat Light" panose="00000400000000000000" pitchFamily="2" charset="0"/>
              </a:rPr>
              <a:t>mainly</a:t>
            </a:r>
            <a:r>
              <a:rPr lang="it-IT" sz="1200" dirty="0">
                <a:latin typeface="Montserrat Light" panose="00000400000000000000" pitchFamily="2" charset="0"/>
              </a:rPr>
              <a:t> for </a:t>
            </a:r>
            <a:r>
              <a:rPr lang="it-IT" sz="1200" dirty="0" err="1">
                <a:latin typeface="Montserrat Light" panose="00000400000000000000" pitchFamily="2" charset="0"/>
              </a:rPr>
              <a:t>simple</a:t>
            </a:r>
            <a:r>
              <a:rPr lang="it-IT" sz="1200" dirty="0">
                <a:latin typeface="Montserrat Light" panose="00000400000000000000" pitchFamily="2" charset="0"/>
              </a:rPr>
              <a:t> uplinks/legacy missions.</a:t>
            </a:r>
          </a:p>
          <a:p>
            <a:endParaRPr lang="it-IT" sz="1200" b="1" dirty="0">
              <a:solidFill>
                <a:srgbClr val="FFC000"/>
              </a:solidFill>
              <a:latin typeface="Montserrat" pitchFamily="2" charset="0"/>
            </a:endParaRPr>
          </a:p>
          <a:p>
            <a:r>
              <a:rPr lang="it-IT" sz="1200" b="1" dirty="0">
                <a:solidFill>
                  <a:srgbClr val="FFC000"/>
                </a:solidFill>
                <a:latin typeface="Montserrat" pitchFamily="2" charset="0"/>
              </a:rPr>
              <a:t>S-band (2–4 GHz)</a:t>
            </a:r>
            <a:br>
              <a:rPr lang="it-IT" sz="1200" b="1" dirty="0">
                <a:solidFill>
                  <a:srgbClr val="FFC000"/>
                </a:solidFill>
                <a:latin typeface="Montserrat" pitchFamily="2" charset="0"/>
              </a:rPr>
            </a:br>
            <a:r>
              <a:rPr lang="it-IT" sz="1200" dirty="0">
                <a:latin typeface="Montserrat Light" panose="00000400000000000000" pitchFamily="2" charset="0"/>
              </a:rPr>
              <a:t>Medium data rate, </a:t>
            </a:r>
            <a:r>
              <a:rPr lang="it-IT" sz="1200" dirty="0" err="1">
                <a:latin typeface="Montserrat Light" panose="00000400000000000000" pitchFamily="2" charset="0"/>
              </a:rPr>
              <a:t>smaller</a:t>
            </a:r>
            <a:r>
              <a:rPr lang="it-IT" sz="1200" dirty="0">
                <a:latin typeface="Montserrat Light" panose="00000400000000000000" pitchFamily="2" charset="0"/>
              </a:rPr>
              <a:t> </a:t>
            </a:r>
            <a:r>
              <a:rPr lang="it-IT" sz="1200" dirty="0" err="1">
                <a:latin typeface="Montserrat Light" panose="00000400000000000000" pitchFamily="2" charset="0"/>
              </a:rPr>
              <a:t>antennas</a:t>
            </a:r>
            <a:r>
              <a:rPr lang="it-IT" sz="1200" dirty="0">
                <a:latin typeface="Montserrat Light" panose="00000400000000000000" pitchFamily="2" charset="0"/>
              </a:rPr>
              <a:t>; common for payload-</a:t>
            </a:r>
            <a:r>
              <a:rPr lang="it-IT" sz="1200" dirty="0" err="1">
                <a:latin typeface="Montserrat Light" panose="00000400000000000000" pitchFamily="2" charset="0"/>
              </a:rPr>
              <a:t>driven</a:t>
            </a:r>
            <a:r>
              <a:rPr lang="it-IT" sz="1200" dirty="0">
                <a:latin typeface="Montserrat Light" panose="00000400000000000000" pitchFamily="2" charset="0"/>
              </a:rPr>
              <a:t> LEO missions.</a:t>
            </a:r>
          </a:p>
          <a:p>
            <a:endParaRPr lang="it-IT" sz="1200" dirty="0">
              <a:latin typeface="Montserrat Light" panose="00000400000000000000" pitchFamily="2" charset="0"/>
            </a:endParaRPr>
          </a:p>
          <a:p>
            <a:r>
              <a:rPr lang="it-IT" sz="1200" b="1" dirty="0">
                <a:solidFill>
                  <a:srgbClr val="FFC000"/>
                </a:solidFill>
                <a:latin typeface="Montserrat" pitchFamily="2" charset="0"/>
              </a:rPr>
              <a:t>X-band (8–12 GHz)</a:t>
            </a:r>
            <a:br>
              <a:rPr lang="it-IT" sz="1200" b="1" dirty="0">
                <a:solidFill>
                  <a:srgbClr val="FFC000"/>
                </a:solidFill>
                <a:latin typeface="Montserrat" pitchFamily="2" charset="0"/>
              </a:rPr>
            </a:br>
            <a:r>
              <a:rPr lang="it-IT" sz="1200" dirty="0">
                <a:latin typeface="Montserrat Light" panose="00000400000000000000" pitchFamily="2" charset="0"/>
              </a:rPr>
              <a:t>High data rate </a:t>
            </a:r>
            <a:r>
              <a:rPr lang="it-IT" sz="1200" dirty="0" err="1">
                <a:latin typeface="Montserrat Light" panose="00000400000000000000" pitchFamily="2" charset="0"/>
              </a:rPr>
              <a:t>downlink</a:t>
            </a:r>
            <a:r>
              <a:rPr lang="it-IT" sz="1200" dirty="0">
                <a:latin typeface="Montserrat Light" panose="00000400000000000000" pitchFamily="2" charset="0"/>
              </a:rPr>
              <a:t>; </a:t>
            </a:r>
            <a:r>
              <a:rPr lang="it-IT" sz="1200" dirty="0" err="1">
                <a:latin typeface="Montserrat Light" panose="00000400000000000000" pitchFamily="2" charset="0"/>
              </a:rPr>
              <a:t>requires</a:t>
            </a:r>
            <a:r>
              <a:rPr lang="it-IT" sz="1200" dirty="0">
                <a:latin typeface="Montserrat Light" panose="00000400000000000000" pitchFamily="2" charset="0"/>
              </a:rPr>
              <a:t> </a:t>
            </a:r>
            <a:r>
              <a:rPr lang="it-IT" sz="1200" dirty="0" err="1">
                <a:latin typeface="Montserrat Light" panose="00000400000000000000" pitchFamily="2" charset="0"/>
              </a:rPr>
              <a:t>directional</a:t>
            </a:r>
            <a:r>
              <a:rPr lang="it-IT" sz="1200" dirty="0">
                <a:latin typeface="Montserrat Light" panose="00000400000000000000" pitchFamily="2" charset="0"/>
              </a:rPr>
              <a:t> </a:t>
            </a:r>
            <a:r>
              <a:rPr lang="it-IT" sz="1200" dirty="0" err="1">
                <a:latin typeface="Montserrat Light" panose="00000400000000000000" pitchFamily="2" charset="0"/>
              </a:rPr>
              <a:t>antennas</a:t>
            </a:r>
            <a:r>
              <a:rPr lang="it-IT" sz="1200" dirty="0">
                <a:latin typeface="Montserrat Light" panose="00000400000000000000" pitchFamily="2" charset="0"/>
              </a:rPr>
              <a:t> and good </a:t>
            </a:r>
            <a:r>
              <a:rPr lang="it-IT" sz="1200" dirty="0" err="1">
                <a:latin typeface="Montserrat Light" panose="00000400000000000000" pitchFamily="2" charset="0"/>
              </a:rPr>
              <a:t>pointing</a:t>
            </a:r>
            <a:r>
              <a:rPr lang="it-IT" sz="1200" dirty="0">
                <a:latin typeface="Montserrat Light" panose="00000400000000000000" pitchFamily="2" charset="0"/>
              </a:rPr>
              <a:t>.</a:t>
            </a:r>
          </a:p>
          <a:p>
            <a:endParaRPr lang="it-IT" sz="1200" dirty="0">
              <a:latin typeface="Montserrat Light" panose="00000400000000000000" pitchFamily="2" charset="0"/>
            </a:endParaRPr>
          </a:p>
          <a:p>
            <a:r>
              <a:rPr lang="it-IT" sz="1200" b="1" dirty="0">
                <a:solidFill>
                  <a:srgbClr val="FFC000"/>
                </a:solidFill>
                <a:latin typeface="Montserrat" pitchFamily="2" charset="0"/>
              </a:rPr>
              <a:t>SDR (Software </a:t>
            </a:r>
            <a:r>
              <a:rPr lang="it-IT" sz="1200" b="1" dirty="0" err="1">
                <a:solidFill>
                  <a:srgbClr val="FFC000"/>
                </a:solidFill>
                <a:latin typeface="Montserrat" pitchFamily="2" charset="0"/>
              </a:rPr>
              <a:t>Defined</a:t>
            </a:r>
            <a:r>
              <a:rPr lang="it-IT" sz="1200" b="1" dirty="0">
                <a:solidFill>
                  <a:srgbClr val="FFC000"/>
                </a:solidFill>
                <a:latin typeface="Montserrat" pitchFamily="2" charset="0"/>
              </a:rPr>
              <a:t> Radio)</a:t>
            </a:r>
            <a:br>
              <a:rPr lang="it-IT" sz="1200" b="1" dirty="0">
                <a:solidFill>
                  <a:srgbClr val="FFC000"/>
                </a:solidFill>
                <a:latin typeface="Montserrat" pitchFamily="2" charset="0"/>
              </a:rPr>
            </a:br>
            <a:r>
              <a:rPr lang="it-IT" sz="1200" dirty="0" err="1">
                <a:latin typeface="Montserrat Light" panose="00000400000000000000" pitchFamily="2" charset="0"/>
              </a:rPr>
              <a:t>Flexible</a:t>
            </a:r>
            <a:r>
              <a:rPr lang="it-IT" sz="1200" dirty="0">
                <a:latin typeface="Montserrat Light" panose="00000400000000000000" pitchFamily="2" charset="0"/>
              </a:rPr>
              <a:t> radio </a:t>
            </a:r>
            <a:r>
              <a:rPr lang="it-IT" sz="1200" dirty="0" err="1">
                <a:latin typeface="Montserrat Light" panose="00000400000000000000" pitchFamily="2" charset="0"/>
              </a:rPr>
              <a:t>where</a:t>
            </a:r>
            <a:r>
              <a:rPr lang="it-IT" sz="1200" dirty="0">
                <a:latin typeface="Montserrat Light" panose="00000400000000000000" pitchFamily="2" charset="0"/>
              </a:rPr>
              <a:t> </a:t>
            </a:r>
            <a:r>
              <a:rPr lang="it-IT" sz="1200" dirty="0" err="1">
                <a:latin typeface="Montserrat Light" panose="00000400000000000000" pitchFamily="2" charset="0"/>
              </a:rPr>
              <a:t>modulation</a:t>
            </a:r>
            <a:r>
              <a:rPr lang="it-IT" sz="1200" dirty="0">
                <a:latin typeface="Montserrat Light" panose="00000400000000000000" pitchFamily="2" charset="0"/>
              </a:rPr>
              <a:t>/data rate (and </a:t>
            </a:r>
            <a:r>
              <a:rPr lang="it-IT" sz="1200" dirty="0" err="1">
                <a:latin typeface="Montserrat Light" panose="00000400000000000000" pitchFamily="2" charset="0"/>
              </a:rPr>
              <a:t>sometimes</a:t>
            </a:r>
            <a:r>
              <a:rPr lang="it-IT" sz="1200" dirty="0">
                <a:latin typeface="Montserrat Light" panose="00000400000000000000" pitchFamily="2" charset="0"/>
              </a:rPr>
              <a:t> </a:t>
            </a:r>
            <a:r>
              <a:rPr lang="it-IT" sz="1200" dirty="0" err="1">
                <a:latin typeface="Montserrat Light" panose="00000400000000000000" pitchFamily="2" charset="0"/>
              </a:rPr>
              <a:t>bands</a:t>
            </a:r>
            <a:r>
              <a:rPr lang="it-IT" sz="1200" dirty="0">
                <a:latin typeface="Montserrat Light" panose="00000400000000000000" pitchFamily="2" charset="0"/>
              </a:rPr>
              <a:t>) can be </a:t>
            </a:r>
            <a:r>
              <a:rPr lang="it-IT" sz="1200" dirty="0" err="1">
                <a:latin typeface="Montserrat Light" panose="00000400000000000000" pitchFamily="2" charset="0"/>
              </a:rPr>
              <a:t>reconfigured</a:t>
            </a:r>
            <a:r>
              <a:rPr lang="it-IT" sz="1200" dirty="0">
                <a:latin typeface="Montserrat Light" panose="00000400000000000000" pitchFamily="2" charset="0"/>
              </a:rPr>
              <a:t> in software.</a:t>
            </a:r>
          </a:p>
        </p:txBody>
      </p:sp>
    </p:spTree>
    <p:extLst>
      <p:ext uri="{BB962C8B-B14F-4D97-AF65-F5344CB8AC3E}">
        <p14:creationId xmlns:p14="http://schemas.microsoft.com/office/powerpoint/2010/main" val="3388169081"/>
      </p:ext>
    </p:extLst>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1520</Words>
  <Application>Microsoft Office PowerPoint</Application>
  <PresentationFormat>Presentazione su schermo (16:9)</PresentationFormat>
  <Paragraphs>251</Paragraphs>
  <Slides>27</Slides>
  <Notes>27</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27</vt:i4>
      </vt:variant>
    </vt:vector>
  </HeadingPairs>
  <TitlesOfParts>
    <vt:vector size="32" baseType="lpstr">
      <vt:lpstr>Montserrat Light</vt:lpstr>
      <vt:lpstr>Roboto</vt:lpstr>
      <vt:lpstr>Montserrat</vt:lpstr>
      <vt:lpstr>Arial</vt:lpstr>
      <vt:lpstr>Simple Dark</vt:lpstr>
      <vt:lpstr>Let’s learn about satellites!</vt:lpstr>
      <vt:lpstr>Telecommunication </vt:lpstr>
      <vt:lpstr>Segments of a space mission </vt:lpstr>
      <vt:lpstr>Why do we communicate? </vt:lpstr>
      <vt:lpstr>Mission data size </vt:lpstr>
      <vt:lpstr>Mission example </vt:lpstr>
      <vt:lpstr>Mission example - 2 </vt:lpstr>
      <vt:lpstr>Mission example - 3</vt:lpstr>
      <vt:lpstr>Mission example - 4</vt:lpstr>
      <vt:lpstr>Telecommunication System Design </vt:lpstr>
      <vt:lpstr>Telecommunication Design Requirements</vt:lpstr>
      <vt:lpstr>Telecommunication System in the Spacecraft</vt:lpstr>
      <vt:lpstr>Frequencies </vt:lpstr>
      <vt:lpstr>Digital data transmission </vt:lpstr>
      <vt:lpstr>Modulation </vt:lpstr>
      <vt:lpstr>Modulation (Visual) </vt:lpstr>
      <vt:lpstr>Why Modulation Matters </vt:lpstr>
      <vt:lpstr>Antennas </vt:lpstr>
      <vt:lpstr>Monopole antenna </vt:lpstr>
      <vt:lpstr>Dipole antenna </vt:lpstr>
      <vt:lpstr>CubeSat Dipole Antenna </vt:lpstr>
      <vt:lpstr>Parabolic antenna </vt:lpstr>
      <vt:lpstr>CubeSat Turnstile Antenna </vt:lpstr>
      <vt:lpstr>CubeSat Patch Antenna </vt:lpstr>
      <vt:lpstr>Antennas Are Not Enough</vt:lpstr>
      <vt:lpstr>The CubeSat Transceiver</vt:lpstr>
      <vt:lpstr>Common CubeSat Radio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Riccardo Carlini</cp:lastModifiedBy>
  <cp:revision>31</cp:revision>
  <dcterms:modified xsi:type="dcterms:W3CDTF">2026-02-25T14:45:21Z</dcterms:modified>
</cp:coreProperties>
</file>